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B7B"/>
                </a:solidFill>
                <a:latin typeface="Calibri"/>
              </a:rPr>
              <a:t>FDTEM · QUALITY ESTIMATION · LENGTH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F1B2D"/>
                </a:solidFill>
                <a:latin typeface="Calibri"/>
              </a:rPr>
              <a:t>Does COMET still work on </a:t>
            </a:r>
            <a:r>
              <a:rPr sz="4000" b="1" i="0">
                <a:solidFill>
                  <a:srgbClr val="C2570C"/>
                </a:solidFill>
                <a:latin typeface="Calibri"/>
              </a:rPr>
              <a:t>longer text?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5A6B7B"/>
                </a:solidFill>
                <a:latin typeface="Calibri"/>
              </a:rPr>
              <a:t>Results — block-level xSIM++, and the retraining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3840480" cy="310896"/>
          </a:xfrm>
          <a:prstGeom prst="roundRect">
            <a:avLst>
              <a:gd name="adj" fmla="val 10000"/>
            </a:avLst>
          </a:prstGeom>
          <a:solidFill>
            <a:srgbClr val="DA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38404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7C86"/>
                </a:solidFill>
                <a:latin typeface="Calibri"/>
              </a:rPr>
              <a:t>EXPERIMENT A · retrain COMET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Better encoder + paragraph-level data. Does quality prediction hold up as text grows?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Training on the cluster — figures pending.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31920"/>
            <a:ext cx="3840480" cy="310896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931920"/>
            <a:ext cx="38404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2570C"/>
                </a:solidFill>
                <a:latin typeface="Calibri"/>
              </a:rPr>
              <a:t>EXPERIMENT B · block xSIM++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34340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Bury one perturbed sentence in a k-sentence block: can the encoder still find the clean block?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Complete — 5 encoders, k = 2…5.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4A2B0"/>
                </a:solidFill>
                <a:latin typeface="Calibri"/>
              </a:rPr>
              <a:t>Data &amp; models in ~/scratch · logged to Weights &amp; Biases · FLORES+ (openlanguagedata/flores_plus)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01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An aligner pulls together; a quality metric must also push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852160" cy="4206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Aligners (LaBSE, LASER, E5) are trained to place a sentence and its translation </a:t>
            </a:r>
            <a:r>
              <a:rPr sz="1500" b="1" i="0">
                <a:solidFill>
                  <a:srgbClr val="0F1B2D"/>
                </a:solidFill>
                <a:latin typeface="Calibri"/>
              </a:rPr>
              <a:t>near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 each other.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COMET has a harder job: it must </a:t>
            </a:r>
            <a:r>
              <a:rPr sz="1500" b="1" i="0">
                <a:solidFill>
                  <a:srgbClr val="C2570C"/>
                </a:solidFill>
                <a:latin typeface="Calibri"/>
              </a:rPr>
              <a:t>also separate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 a correct translation from one that is nearly identical but contains an error.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The concern: 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COMET only saw short segments in training. On a paragraph, is a single localised error simply diluted away?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737360"/>
            <a:ext cx="484632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0" y="2011680"/>
            <a:ext cx="2377440" cy="310896"/>
          </a:xfrm>
          <a:prstGeom prst="roundRect">
            <a:avLst>
              <a:gd name="adj" fmla="val 10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011680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57347"/>
                </a:solidFill>
                <a:latin typeface="Calibri"/>
              </a:rPr>
              <a:t>PULL TOGETHER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src ↔ correct translation → close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200400"/>
            <a:ext cx="2377440" cy="310896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200400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2570C"/>
                </a:solidFill>
                <a:latin typeface="Calibri"/>
              </a:rPr>
              <a:t>PUSH APART  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6576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src ↔ translation-with-one-error → must stay farther than the correct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4572000"/>
            <a:ext cx="4297680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709160"/>
            <a:ext cx="42976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7B"/>
                </a:solidFill>
                <a:latin typeface="Calibri"/>
              </a:rPr>
              <a:t>Experiment B measures the push-apart force directly, as text gets longer.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02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xSIM++ on concatenated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0F1B2D"/>
                </a:solidFill>
                <a:latin typeface="Calibri"/>
              </a:rPr>
              <a:t>Standard xSIM++ perturbs one sentence. We move it to blocks of k sentences: perturb </a:t>
            </a:r>
            <a:r>
              <a:rPr sz="1500" b="1" i="0">
                <a:solidFill>
                  <a:srgbClr val="C2570C"/>
                </a:solidFill>
                <a:latin typeface="Calibri"/>
              </a:rPr>
              <a:t>one</a:t>
            </a:r>
            <a:r>
              <a:rPr sz="1500" b="0" i="0">
                <a:solidFill>
                  <a:srgbClr val="0F1B2D"/>
                </a:solidFill>
                <a:latin typeface="Calibri"/>
              </a:rPr>
              <a:t> sentence, keep the other k−1 intact, and ask whether the encoder can still retrieve the clean block.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97480"/>
            <a:ext cx="5394960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2570C"/>
                </a:solidFill>
                <a:latin typeface="Calibri"/>
              </a:rPr>
              <a:t>THE QUESTION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B2D"/>
                </a:solidFill>
                <a:latin typeface="Calibri"/>
              </a:rPr>
              <a:t>As k grows, one error is a smaller fraction of the block. How fast does the encoder's sensitivity dilute?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5394960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88036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2570C"/>
                </a:solidFill>
                <a:latin typeface="Calibri"/>
              </a:rPr>
              <a:t>THE METHOD IN ONE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B2D"/>
                </a:solidFill>
                <a:latin typeface="Calibri"/>
              </a:rPr>
              <a:t>Cross-lingual retrieval: query = source block; find its true translation block in a pool seeded with hard negatives.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Encoder zoo (no training): 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COMET · Bio-COMET · raw XLM-R · LaBSE · E5.  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7B"/>
                </a:solidFill>
                <a:latin typeface="Calibri"/>
              </a:rPr>
              <a:t>Data: FLORES+ dev+devtest, cased languages de · es · fr · ru (zh/ja/th excluded — entity edits need letter case).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03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AGGREGATING FLORES+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From FLORES+ sentences to parallel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B2D"/>
                </a:solidFill>
                <a:latin typeface="Calibri"/>
              </a:rPr>
              <a:t>FLORES+ rows are in document order with a url column marking articles. We take </a:t>
            </a:r>
            <a:r>
              <a:rPr sz="1400" b="1" i="0">
                <a:solidFill>
                  <a:srgbClr val="0F1B2D"/>
                </a:solidFill>
                <a:latin typeface="Calibri"/>
              </a:rPr>
              <a:t>non-overlapping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 windows of k consecutive sentences within one article (stride = k), and apply the </a:t>
            </a:r>
            <a:r>
              <a:rPr sz="1400" b="1" i="0">
                <a:solidFill>
                  <a:srgbClr val="0F1B2D"/>
                </a:solidFill>
                <a:latin typeface="Calibri"/>
              </a:rPr>
              <a:t>same window to every language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 — blocks stay parallel.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Pool dev + devtest → </a:t>
            </a:r>
            <a:r>
              <a:rPr sz="1350" b="1" i="0">
                <a:solidFill>
                  <a:srgbClr val="C2570C"/>
                </a:solidFill>
                <a:latin typeface="Calibri"/>
              </a:rPr>
              <a:t>2,009 sentences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 / language, 562 articles (2–6 sentences).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Partial tail windows discarded — only full k-blocks kept.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Larger k ⇒ fewer blocks; k = 5 is the practical ceiling.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ONE ARTICLE · k = 3 ·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9792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4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54896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76688" y="210312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6688" y="210312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3657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alibri"/>
              </a:rPr>
              <a:t>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9792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01584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33104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54896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4896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76688" y="269748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6688" y="269748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t6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→ aligned source block &amp; target block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840480"/>
            <a:ext cx="4114800" cy="1874519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93192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block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931920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onsolas"/>
              </a:rPr>
              <a:t>blocks /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279392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alibri"/>
              </a:rPr>
              <a:t>k =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4279392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onsolas"/>
              </a:rPr>
              <a:t>846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626864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alibri"/>
              </a:rPr>
              <a:t>k =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626864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onsolas"/>
              </a:rPr>
              <a:t>468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97433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alibri"/>
              </a:rPr>
              <a:t>k =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974336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onsolas"/>
              </a:rPr>
              <a:t>276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32180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alibri"/>
              </a:rPr>
              <a:t>k =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32180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F1B2D"/>
                </a:solidFill>
                <a:latin typeface="Consolas"/>
              </a:rPr>
              <a:t>141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04 / 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THE RETRIEVAL POOL — THE CORE OF THE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0F1B2D"/>
                </a:solidFill>
                <a:latin typeface="Calibri"/>
              </a:rPr>
              <a:t>What is the query, and what is it retrieved against?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QUERY — one source block (EN)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3584" y="1874519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1874519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1874519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1874519"/>
            <a:ext cx="6400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embed → nearest candidate by cosine similarity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66160" y="1965960"/>
            <a:ext cx="640080" cy="310896"/>
          </a:xfrm>
          <a:prstGeom prst="rightArrow">
            <a:avLst/>
          </a:prstGeom>
          <a:solidFill>
            <a:srgbClr val="94A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CANDIDATE POOL (target language)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74519"/>
            <a:ext cx="7040880" cy="603504"/>
          </a:xfrm>
          <a:prstGeom prst="roundRect">
            <a:avLst>
              <a:gd name="adj" fmla="val 10000"/>
            </a:avLst>
          </a:prstGeom>
          <a:solidFill>
            <a:srgbClr val="DCEEE2"/>
          </a:solidFill>
          <a:ln w="19050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6280" y="1938527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938527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9784" y="1938527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9784" y="1938527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33288" y="1938527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3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3288" y="1938527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19"/>
            <a:ext cx="46634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57347"/>
                </a:solidFill>
                <a:latin typeface="Calibri"/>
              </a:rPr>
              <a:t>✓ the answer — clean block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2587751"/>
            <a:ext cx="7040880" cy="603504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 w="19050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2651759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2651759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9784" y="2651759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9784" y="2651759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33288" y="2651759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33288" y="2651759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587751"/>
            <a:ext cx="46634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hard negative — sentence 2 perturbed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300983"/>
            <a:ext cx="7040880" cy="603504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 w="19050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3364991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364991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t1*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9784" y="3364991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9784" y="3364991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33288" y="3364991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257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33288" y="3364991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t3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300983"/>
            <a:ext cx="46634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hard negative — different sentence / edit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014215"/>
            <a:ext cx="7040880" cy="603504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26280" y="4078223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4078223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u1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9784" y="4078223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9784" y="4078223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u2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33288" y="4078223"/>
            <a:ext cx="54864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33288" y="4078223"/>
            <a:ext cx="548640" cy="4754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u3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014215"/>
            <a:ext cx="466344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4748B"/>
                </a:solidFill>
                <a:latin typeface="Calibri"/>
              </a:rPr>
              <a:t>every OTHER true block (distractors)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5257800"/>
            <a:ext cx="82296" cy="1051560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2570C"/>
                </a:solidFill>
                <a:latin typeface="Calibri"/>
              </a:rPr>
              <a:t>Crucial: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hard negatives are built per block, from that block's own k translations — one sentence perturbed, the other k−1 byte-identical. They are not perturbations of other blocks. The whole-corpus pool = all clean target blocks (mutual distractors) + every block's own hard negatives.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05 /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THE PERTURBATIONS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One sentence, three edit types, every block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61188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554480" cy="31089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7C3AED"/>
                </a:solidFill>
                <a:latin typeface="Calibri"/>
              </a:rPr>
              <a:t>CAUSALITY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antonym · negation · modal strengthening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7B"/>
                </a:solidFill>
                <a:latin typeface="Consolas"/>
              </a:rPr>
              <a:t>…ne s'amélioreraient pas → …s'amélioreraient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9164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691640"/>
            <a:ext cx="3611880" cy="7315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1874519"/>
            <a:ext cx="1554480" cy="31089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874519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284C7"/>
                </a:solidFill>
                <a:latin typeface="Calibri"/>
              </a:rPr>
              <a:t>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3172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swap a named-entity span from a corpus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9718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7B"/>
                </a:solidFill>
                <a:latin typeface="Consolas"/>
              </a:rPr>
              <a:t>M. Pittman → M. Phéniciens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169164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691640"/>
            <a:ext cx="3611880" cy="731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84464" y="1874519"/>
            <a:ext cx="1554480" cy="31089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1874519"/>
            <a:ext cx="155448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Calibri"/>
              </a:rPr>
              <a:t>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33172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alibri"/>
              </a:rPr>
              <a:t>change a digit / ordinal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9718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A6B7B"/>
                </a:solidFill>
                <a:latin typeface="Consolas"/>
              </a:rPr>
              <a:t>88 → 98   ·   first → sixth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49039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D"/>
                </a:solidFill>
                <a:latin typeface="Calibri"/>
              </a:rPr>
              <a:t>For each k-block, hard negatives sweep: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each position p = 1…k  (perturb p, keep the rest)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each category — causality, entity, number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a few variants each (default 2, deduplicated)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7B"/>
                </a:solidFill>
                <a:latin typeface="Calibri"/>
              </a:rPr>
              <a:t>The other k−1 sentences are byte-identical to the clean block — that is what makes the negative hard, and harder as k grows.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39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40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2570C"/>
                </a:solidFill>
                <a:latin typeface="Calibri"/>
              </a:rPr>
              <a:t>DE · pool sizes (variants/pos =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onsolas"/>
              </a:rPr>
              <a:t>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206240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onsolas"/>
              </a:rPr>
              <a:t>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206240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onsolas"/>
              </a:rPr>
              <a:t>hard neg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206240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6B7B"/>
                </a:solidFill>
                <a:latin typeface="Consolas"/>
              </a:rPr>
              <a:t>pool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517136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17136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846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517136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6,379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4517136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7,225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28032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828032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468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4828032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5,287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828032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5,755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13892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513892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276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513892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4,172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513892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4,448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449824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449824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141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5449824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2,611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5449824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F1B2D"/>
                </a:solidFill>
                <a:latin typeface="Consolas"/>
              </a:rPr>
              <a:t>2,752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06 / 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HOW WE SCORE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Retrieval rule &amp; the metrics we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0F1B2D"/>
                </a:solidFill>
                <a:latin typeface="Calibri"/>
              </a:rPr>
              <a:t>Embed the query block and every candidate; retrieval picks the candidate of </a:t>
            </a:r>
            <a:r>
              <a:rPr sz="1450" b="1" i="0">
                <a:solidFill>
                  <a:srgbClr val="0F1B2D"/>
                </a:solidFill>
                <a:latin typeface="Calibri"/>
              </a:rPr>
              <a:t>maximum cosine similarity</a:t>
            </a:r>
            <a:r>
              <a:rPr sz="1450" b="0" i="0">
                <a:solidFill>
                  <a:srgbClr val="0F1B2D"/>
                </a:solidFill>
                <a:latin typeface="Calibri"/>
              </a:rPr>
              <a:t> (absolute-margin rule). A block is correct only if that argmax is its own clean target block.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xsim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over the clean-blocks-only pool (classic)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7432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862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xsim++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over the full pool incl. hard negatives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detection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P[ cos(q, clean) &gt; cos(q, perturbed)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7947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1363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error typology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2976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misaligned vs which category won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65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by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detection vs where the error sits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8463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9651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2570C"/>
                </a:solidFill>
                <a:latin typeface="Calibri"/>
              </a:rPr>
              <a:t>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49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onsolas"/>
              </a:rPr>
              <a:t>gold − best-negative similarity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07 /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RESULT · H100, 13 MIN · MEAN OVER DE·ES·FR·RU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0F1B2D"/>
                </a:solidFill>
                <a:latin typeface="Calibri"/>
              </a:rPr>
              <a:t>COMET aligns blocks perfectly — yet can't feel a buried error</a:t>
            </a:r>
          </a:p>
        </p:txBody>
      </p:sp>
      <p:pic>
        <p:nvPicPr>
          <p:cNvPr id="6" name="Picture 5" descr="xsim_vs_xsim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5623560" cy="3514725"/>
          </a:xfrm>
          <a:prstGeom prst="rect">
            <a:avLst/>
          </a:prstGeom>
        </p:spPr>
      </p:pic>
      <p:pic>
        <p:nvPicPr>
          <p:cNvPr id="7" name="Picture 6" descr="detection_vs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623560" cy="3514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074920"/>
            <a:ext cx="56235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Dashed = xsim (clean pool) ≈ 0 for COMET/LaBSE/E5. Solid = xsim++ (with hard negatives): COMET climbs 0.72 → 0.98.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507492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B"/>
                </a:solidFill>
                <a:latin typeface="Calibri"/>
              </a:rPr>
              <a:t>P[clean closer than perturbed]. COMET &amp; Bio-COMET fall below chance from k = 3; LaBSE/E5 hold ~0.85 at k =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10000"/>
            </a:avLst>
          </a:prstGeom>
          <a:solidFill>
            <a:srgbClr val="F6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715000"/>
            <a:ext cx="82296" cy="65836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79008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Finding: </a:t>
            </a:r>
            <a:r>
              <a:rPr sz="1250" b="0" i="0">
                <a:solidFill>
                  <a:srgbClr val="0F1B2D"/>
                </a:solidFill>
                <a:latin typeface="Calibri"/>
              </a:rPr>
              <a:t>COMET's encoder is fooled by a single perturbed sentence 72% of the time at k=2, 98% at k=5 — and from k=3 ranks the corrupted block closer to the source than the clean one. Aligners resist this.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08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RESULT · WHICH EDITS, WHICH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What fools each encoder, and where in the block</a:t>
            </a:r>
          </a:p>
        </p:txBody>
      </p:sp>
      <p:pic>
        <p:nvPicPr>
          <p:cNvPr id="6" name="Picture 5" descr="error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11247120" cy="2142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39312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xsim++ error with the pool restricted to one category. COMET &amp; XLM-R: entity ≥ causality ≫ number.  Aligners (LaBSE/E5): the reverse — entity/number are easy, causality is hardest.</a:t>
            </a:r>
          </a:p>
        </p:txBody>
      </p:sp>
      <p:pic>
        <p:nvPicPr>
          <p:cNvPr id="8" name="Picture 7" descr="detection_by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79392"/>
            <a:ext cx="3063240" cy="1914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45720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1B2D"/>
                </a:solidFill>
                <a:latin typeface="Calibri"/>
              </a:rPr>
              <a:t>Detection vs the position of the perturbed sentence in the block.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Calibri"/>
              </a:rPr>
              <a:t>Two clean bands — aligners ~0.85–0.94 (top), COMET / XLM-R ~0.33–0.50 (bottom) — with a slight dip for errors in the middle and later sentences of the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09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B · RESULT ·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xsim++ error and detection rate, mean over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19072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2570C"/>
                </a:solidFill>
                <a:latin typeface="Calibri"/>
              </a:rPr>
              <a:t>xsim++ error  (↑ = worse)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77456" y="1719072"/>
            <a:ext cx="4242816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detection rate  (↓ = worse; .50 = chance)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48256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95344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59568" y="2048256"/>
            <a:ext cx="106070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k=5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32304"/>
            <a:ext cx="10771632" cy="18288"/>
          </a:xfrm>
          <a:prstGeom prst="rect">
            <a:avLst/>
          </a:prstGeom>
          <a:solidFill>
            <a:srgbClr val="DB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505456"/>
            <a:ext cx="10771632" cy="53035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505456"/>
            <a:ext cx="22860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COMET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59568" y="2505456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072384"/>
            <a:ext cx="22860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Bio-COMET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95344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9568" y="3072384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0.34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39312"/>
            <a:ext cx="10771632" cy="53035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639312"/>
            <a:ext cx="22860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LaBSE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5344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0.63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77456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8864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59568" y="3639312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206240"/>
            <a:ext cx="22860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E5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95344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6048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0.73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77456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8864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59568" y="4206240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773168"/>
            <a:ext cx="10771632" cy="53035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4773168"/>
            <a:ext cx="228600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XLM-R (raw)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0.87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95344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6048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16752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0.98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77456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F1B2D"/>
                </a:solidFill>
                <a:latin typeface="Consolas"/>
              </a:rPr>
              <a:t>0.51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98864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59568" y="4773168"/>
            <a:ext cx="106070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onsolas"/>
              </a:rPr>
              <a:t>0.44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Detection below .50 (bold rust) = the encoder ranks the corrupted block closer than the clean one, on average. COMET/Bio-COMET cross that line at k = 3.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10 / 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A ·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Retrain COMET — isolate the encoder from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9496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ARM 1 · DATA EFFECT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Continue wmt22-comet-da on paragraph-level data. Same encoder, same head — only the training text gets longer.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Is short-segment data the limitation?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39496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7C86"/>
                </a:solidFill>
                <a:latin typeface="Calibri"/>
              </a:rPr>
              <a:t>ARM 2 · ENCODER EFFECT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Retrain COMET's head on a better-aligned encoder (microsoft/infoxlm-large), from raw weights, on the same data.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A6B7B"/>
                </a:solidFill>
                <a:latin typeface="Calibri"/>
              </a:rPr>
              <a:t>Is the ageing XLM-R backbone the limitation?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>
              <a:gd name="adj" fmla="val 10000"/>
            </a:avLst>
          </a:prstGeom>
          <a:solidFill>
            <a:srgbClr val="DA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82296" cy="8686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Controlled comparison. </a:t>
            </a:r>
            <a:r>
              <a:rPr sz="1300" b="0" i="0">
                <a:solidFill>
                  <a:srgbClr val="0F1B2D"/>
                </a:solidFill>
                <a:latin typeface="Calibri"/>
              </a:rPr>
              <a:t>Arm 2 is run twice on identical data — infoXLM vs a plain xlm-roberta-large baseline — so any difference is attributable to the encoder, not the recipe.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F1B2D"/>
                </a:solidFill>
                <a:latin typeface="Calibri"/>
              </a:rPr>
              <a:t>Task throughout: </a:t>
            </a:r>
            <a:r>
              <a:rPr sz="1350" b="0" i="0">
                <a:solidFill>
                  <a:srgbClr val="0F1B2D"/>
                </a:solidFill>
                <a:latin typeface="Calibri"/>
              </a:rPr>
              <a:t>reference-based scalar regression (RegressionMetric), MSE loss. Trained: regression head + layer-attention pool + encoder (low LR, 30% frozen). Data: length-balanced Bio-MQM windows, k ∈ {1,2,3,4,6}, equal count per length — 15,410 train / 46,882 val.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11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A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Length-balanced paragraph mix from Bio-MQM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669280" cy="3291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B2D"/>
                </a:solidFill>
                <a:latin typeface="Calibri"/>
              </a:rPr>
              <a:t>Consecutive same-document Bio-MQM segments form real paragraphs. Slide a window of k segments, concatenate src/mt/ref, score by the </a:t>
            </a:r>
            <a:r>
              <a:rPr sz="1400" b="1" i="0">
                <a:solidFill>
                  <a:srgbClr val="0F1B2D"/>
                </a:solidFill>
                <a:latin typeface="Calibri"/>
              </a:rPr>
              <a:t>mean per-segment MQM penalty</a:t>
            </a:r>
            <a:r>
              <a:rPr sz="1400" b="0" i="0">
                <a:solidFill>
                  <a:srgbClr val="0F1B2D"/>
                </a:solidFill>
                <a:latin typeface="Calibri"/>
              </a:rPr>
              <a:t>. At k=1 this equals the sentence-level score — all lengths share one scale.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Balanced: every k contributes the same number of train windows.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Train windows overlap (augmentation); val is non-overlapping.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• Windows over 480 tokens dropped (512 encoder limit).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7C86"/>
                </a:solidFill>
                <a:latin typeface="Calibri"/>
              </a:rPr>
              <a:t>ONE DOCUMENT → WINDOWS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22592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44384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057400"/>
            <a:ext cx="56692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057400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4A2B0"/>
                </a:solidFill>
                <a:latin typeface="Consolas"/>
              </a:rPr>
              <a:t>s6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97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onsolas"/>
              </a:rPr>
              <a:t>k=2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44384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51392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51392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616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65176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65176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2461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Consolas"/>
              </a:rPr>
              <a:t>k=3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86600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44384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44384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02168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02168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51392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09176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9176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3200400"/>
            <a:ext cx="5029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66960" y="3200400"/>
            <a:ext cx="5029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A6B7B"/>
                </a:solidFill>
                <a:latin typeface="Consolas"/>
              </a:rPr>
              <a:t>s6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8404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A6B7B"/>
                </a:solidFill>
                <a:latin typeface="Calibri"/>
              </a:rPr>
              <a:t>Each window → one example: score = mean penalty. Length grows ~40 → ~226 tokens (k=1 → k=6).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074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1937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15,410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623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train windows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51960" y="5074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51937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46,882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623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val windows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80" y="50749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80" y="519379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F1B2D"/>
                </a:solidFill>
                <a:latin typeface="Calibri"/>
              </a:rPr>
              <a:t>k∈{1,2,3,4,6}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623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B"/>
                </a:solidFill>
                <a:latin typeface="Calibri"/>
              </a:rPr>
              <a:t>equal share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12 / 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EXPERIMENT A ·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Retraining runs in 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0F1B2D"/>
                </a:solidFill>
                <a:latin typeface="Calibri"/>
              </a:rPr>
              <a:t>Three COMET runs training on RTX 8000 (≤ 3 days), logging to W&amp;B project comet-retrain: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paragraph-continue — wmt22-comet-da on the length-balanced mix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infoXLM-large — encoder swap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F1B2D"/>
                </a:solidFill>
                <a:latin typeface="Calibri"/>
              </a:rPr>
              <a:t>• XLM-R baseline — same recipe, controlled comparison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0F1B2D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B"/>
                </a:solidFill>
                <a:latin typeface="Calibri"/>
              </a:rPr>
              <a:t>On completion, eval_length_correlation.py produces the Kendall-τ-vs-k figure — one line per model. A model that generalises to long text degrades less as k grows.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920240"/>
            <a:ext cx="5029200" cy="31089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4A2B0"/>
                </a:solidFill>
                <a:latin typeface="Calibri"/>
              </a:rPr>
              <a:t>Kendall τ vs k, per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94A2B0"/>
                </a:solidFill>
                <a:latin typeface="Calibri"/>
              </a:rPr>
              <a:t>— pending training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13 /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82296" cy="292608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57200"/>
            <a:ext cx="107899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6B7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F1B2D"/>
                </a:solidFill>
                <a:latin typeface="Calibri"/>
              </a:rPr>
              <a:t>Two experiments, one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94960" cy="7315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7C86"/>
                </a:solidFill>
                <a:latin typeface="Calibri"/>
              </a:rPr>
              <a:t>A · RETRAINING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data:  Bio-MQM windows k∈{1,2,3,4,6}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task:  reference-based regression (MSE)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trained:  head + pool + encoder (low LR)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varies:  encoder (infoXLM) · or data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eval:  Kendall τ vs k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A6B7B"/>
                </a:solidFill>
                <a:latin typeface="Calibri"/>
              </a:rPr>
              <a:t>status: 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394960" cy="73152"/>
          </a:xfrm>
          <a:prstGeom prst="rect">
            <a:avLst/>
          </a:prstGeom>
          <a:solidFill>
            <a:srgbClr val="C25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937760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2570C"/>
                </a:solidFill>
                <a:latin typeface="Calibri"/>
              </a:rPr>
              <a:t>B · BLOCK xSIM++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data:  FLORES+, non-overlapping k-blocks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task:  cross-lingual block retrieval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negatives:  1 sentence perturbed, k−1 intact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varies:  block length k = 2…5 · encoder zoo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F1B2D"/>
                </a:solidFill>
                <a:latin typeface="Calibri"/>
              </a:rPr>
              <a:t>eval:  xsim vs xsim++, detection, dilution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2570C"/>
                </a:solidFill>
                <a:latin typeface="Calibri"/>
              </a:rPr>
              <a:t>result:  COMET blind to buried errors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85232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Does COMET's quality signal — and its encoder's error-sensitivity — survive the move from sentences to paragraphs?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onsolas"/>
              </a:rPr>
              <a:t>14 /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2B0"/>
                </a:solidFill>
                <a:latin typeface="Calibri"/>
              </a:rPr>
              <a:t>FDTEM · COMET on long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