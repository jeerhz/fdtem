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6B7B"/>
                </a:solidFill>
                <a:latin typeface="Calibri"/>
              </a:rPr>
              <a:t>ENCODER EVALUATION · LENGTH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F1B2D"/>
                </a:solidFill>
                <a:latin typeface="Calibri"/>
              </a:rPr>
              <a:t>Do encoders still feel a single error </a:t>
            </a:r>
            <a:r>
              <a:rPr sz="3600" b="1" i="0">
                <a:solidFill>
                  <a:srgbClr val="C2570C"/>
                </a:solidFill>
                <a:latin typeface="Calibri"/>
              </a:rPr>
              <a:t>in longer text?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A6B7B"/>
                </a:solidFill>
                <a:latin typeface="Calibri"/>
              </a:rPr>
              <a:t>Block-level xSIM++: one planted error, diluted across k concatenated FLORES+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10515600" cy="141732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77639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The one-line idea.  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Concatenate k parallel sentences into a block, corrupt exactly one of them with a minimal semantic edit, and test whether an encoder can still retrieve the clean translation over the corrupted one. Sweep k = 2…5 so that </a:t>
            </a:r>
            <a:r>
              <a:rPr sz="1500" b="1" i="0">
                <a:solidFill>
                  <a:srgbClr val="0F1B2D"/>
                </a:solidFill>
                <a:latin typeface="Calibri"/>
              </a:rPr>
              <a:t>length is the only thing that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2B0"/>
                </a:solidFill>
                <a:latin typeface="Calibri"/>
              </a:rPr>
              <a:t>FLORES+ dev+devtest · de · es · fr · ru · pivot en   |   encoders: COMET · Bio-COMET · XLM-R · LaBSE · E5   |   no training, retrieval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WHY THIS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Aligning is easy; noticing one buried error is the hard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943600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F1B2D"/>
                </a:solidFill>
                <a:latin typeface="Calibri"/>
              </a:rPr>
              <a:t>A cross-lingual encoder must do two things: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F1B2D"/>
                </a:solidFill>
                <a:latin typeface="Calibri"/>
              </a:rPr>
              <a:t>1.  pull a sentence and its translation </a:t>
            </a:r>
            <a:r>
              <a:rPr sz="1500" b="1" i="0">
                <a:solidFill>
                  <a:srgbClr val="157347"/>
                </a:solidFill>
                <a:latin typeface="Calibri"/>
              </a:rPr>
              <a:t>together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F1B2D"/>
                </a:solidFill>
                <a:latin typeface="Calibri"/>
              </a:rPr>
              <a:t>2.  push a </a:t>
            </a:r>
            <a:r>
              <a:rPr sz="1500" b="1" i="0">
                <a:solidFill>
                  <a:srgbClr val="C2570C"/>
                </a:solidFill>
                <a:latin typeface="Calibri"/>
              </a:rPr>
              <a:t>wrong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 translation — one that is nearly identical but carries an error — farther away than the correct one.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0F1B2D"/>
                </a:solidFill>
                <a:latin typeface="Calibri"/>
              </a:rPr>
              <a:t>Aligners (LaBSE, E5) are trained only for (1). A quality-aware encoder like COMET must also do (2).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The worry: 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COMET only ever saw short segments in training. In a long paragraph, is a single localised error simply averaged away?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737360"/>
            <a:ext cx="4846320" cy="402336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86600" y="2011680"/>
            <a:ext cx="2651760" cy="310896"/>
          </a:xfrm>
          <a:prstGeom prst="roundRect">
            <a:avLst>
              <a:gd name="adj" fmla="val 9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011680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7347"/>
                </a:solidFill>
                <a:latin typeface="Calibri"/>
              </a:rPr>
              <a:t>PULL TOGETHER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48716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onsolas"/>
              </a:rPr>
              <a:t>source ↔ correct translation → close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3246120"/>
            <a:ext cx="3108960" cy="310896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246120"/>
            <a:ext cx="31089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2570C"/>
                </a:solidFill>
                <a:latin typeface="Calibri"/>
              </a:rPr>
              <a:t>PUSH APART  ✗ (the 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72160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onsolas"/>
              </a:rPr>
              <a:t>source ↔ translation-with-one-error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onsolas"/>
              </a:rPr>
              <a:t>→ must stay farther than the clean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4709160"/>
            <a:ext cx="4297680" cy="18288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84632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A6B7B"/>
                </a:solidFill>
                <a:latin typeface="Calibri"/>
              </a:rPr>
              <a:t>This deck measures the push-apart force, and how it decays as the block grows.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02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THE RECIPE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A cross-lingual retrieval task, made harder one length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69748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2697480" cy="73152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6E2D2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570C"/>
                </a:solidFill>
                <a:latin typeface="Calibri"/>
              </a:rPr>
              <a:t>CONCATENATE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08960"/>
            <a:ext cx="2295144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k consecutive FLORES+ sentences → one block. Same window in every language, so source and target blocks stay parallel.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783080"/>
            <a:ext cx="269748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4136" y="1783080"/>
            <a:ext cx="2697480" cy="73152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0116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6E2D2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97480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570C"/>
                </a:solidFill>
                <a:latin typeface="Calibri"/>
              </a:rPr>
              <a:t>CORRUPT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3108960"/>
            <a:ext cx="2295144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Copy each target block, change exactly one sentence with a minimal semantic edit → a hard negative. Repeat per position &amp; edit type.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83080"/>
            <a:ext cx="269748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2697480" cy="73152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6E2D2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570C"/>
                </a:solidFill>
                <a:latin typeface="Calibri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2295144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Query = source block. Pool = every clean target block + all hard negatives. Correct only if the clean gold block is nearest.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1783080"/>
            <a:ext cx="269748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1783080"/>
            <a:ext cx="2697480" cy="73152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20116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6E2D2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697480"/>
            <a:ext cx="229514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570C"/>
                </a:solidFill>
                <a:latin typeface="Calibri"/>
              </a:rPr>
              <a:t>SWEEP 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108960"/>
            <a:ext cx="2295144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Run k = 2,3,4,5. The edit is unchanged; only the amount of surrounding context grows. Watch sensitivity dilute.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937760"/>
            <a:ext cx="82296" cy="96012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570C"/>
                </a:solidFill>
                <a:latin typeface="Calibri"/>
              </a:rPr>
              <a:t>Read the whole deck as: 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hold the error fixed, vary the length, and see when the encoder stops reacting. Everything that follows exists to make length the single independent variable.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03 / 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STEP 1 · CONCATENATION — PRECISELY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How sentences become parallel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Non-overlapping windows. 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Within one FLORES+ article (rows share a url), take k consecutive sentences with stride = k. Windows never overlap, so no two blocks are near-duplicates.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Same window, every language. 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The identical row range is applied to en, de, es, fr, ru — the source block and each target block are exact translations of one another.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Join rule. 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Sentences are joined with a single space (with no separator for space-less scripts zh/ja/th). Nothing else is inserted.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Only full blocks. 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A leftover tail shorter than k, or a window that would cross an article boundary, is discarded.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691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A6B7B"/>
                </a:solidFill>
                <a:latin typeface="Calibri"/>
              </a:rPr>
              <a:t>ONE ARTICLE · k = 3 ·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084831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084831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084831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8392" y="2084831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084831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0184" y="2084831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2084831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2084831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2084831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3496" y="2084831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83496" y="2084831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05288" y="2084831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5288" y="2084831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7919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679192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67919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8392" y="2679192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67919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0184" y="2679192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267919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2679192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267919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t4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3496" y="2679192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496" y="267919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t5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05288" y="2679192"/>
            <a:ext cx="56692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05288" y="267919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t6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273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Consolas"/>
              </a:rPr>
              <a:t>→ query = «s1 s2 s3»    gold = «t1 t2 t3»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3794760"/>
            <a:ext cx="4114800" cy="19202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904487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blocks per language (de, dev+devtest)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224528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alibri"/>
              </a:rPr>
              <a:t>k =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224528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846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57200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alibri"/>
              </a:rPr>
              <a:t>k =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57200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468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919472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alibri"/>
              </a:rPr>
              <a:t>k =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919472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276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266944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alibri"/>
              </a:rPr>
              <a:t>k =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266944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04 / 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STEP 2 · THE ERRORS — PRECISELY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Three edit types, each a minimal meaning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The three perturbation families of xSIM++ (§2.2). Each edit changes one sentence's meaning with the smallest possible surface change, so the block stays fluent and near-identical.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61188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61188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737360" cy="310896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CAUSALITY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antonym swap · add/remove a negation · strengthen a modal (may→will)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B7B"/>
                </a:solidFill>
                <a:latin typeface="Consolas"/>
              </a:rPr>
              <a:t>«…ne s'amélioreraient pas» → «…s'amélioreraient»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B7B"/>
                </a:solidFill>
                <a:latin typeface="Consolas"/>
              </a:rPr>
              <a:t>«augmenter de 12 %» → «diminuer de 12 %»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286000"/>
            <a:ext cx="361188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286000"/>
            <a:ext cx="361188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7992" y="2468880"/>
            <a:ext cx="1737360" cy="310896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4688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284C7"/>
                </a:solidFill>
                <a:latin typeface="Calibri"/>
              </a:rPr>
              <a:t>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9260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replace a detected named-entity span with another of the same width, sampled from a corpus-wide 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886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B7B"/>
                </a:solidFill>
                <a:latin typeface="Consolas"/>
              </a:rPr>
              <a:t>«chercheurs de Stanford» → «chercheurs de Pittman»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2286000"/>
            <a:ext cx="361188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2286000"/>
            <a:ext cx="3611880" cy="731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4464" y="2468880"/>
            <a:ext cx="1737360" cy="310896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24688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5309"/>
                </a:solidFill>
                <a:latin typeface="Calibri"/>
              </a:rPr>
              <a:t>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9260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replace a digit with a random different value of the same length, or swap an ordinal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886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B7B"/>
                </a:solidFill>
                <a:latin typeface="Consolas"/>
              </a:rPr>
              <a:t>«88 personnes» → «89 personnes»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2519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B7B"/>
                </a:solidFill>
                <a:latin typeface="Consolas"/>
              </a:rPr>
              <a:t>«première réunion» → «dixième réunion»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1091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Which sentence, which side? 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Edits are applied to the pool side — the translations (direction en2xx) — to exactly one sentence at one position; the other k−1 sentences are left byte-identical. All edits are deterministic: the RNG is seeded from (seed, language, category, sentence, variant index), so the whole pool is reproducible.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05 / 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STEP 3 · THE POOL — HOW MANY ERRORS PER BLOCK?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One error per candidate — many single-error candidates per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A6B7B"/>
                </a:solidFill>
                <a:latin typeface="Calibri"/>
              </a:rPr>
              <a:t>CANDIDATE POOL for one block (k =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760720" cy="566928"/>
          </a:xfrm>
          <a:prstGeom prst="roundRect">
            <a:avLst>
              <a:gd name="adj" fmla="val 9000"/>
            </a:avLst>
          </a:prstGeom>
          <a:solidFill>
            <a:srgbClr val="DCEEE2"/>
          </a:solidFill>
          <a:ln w="19050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20824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0824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3584" y="2020824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2020824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1368" y="2020824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1368" y="2020824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96596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347"/>
                </a:solidFill>
                <a:latin typeface="Calibri"/>
              </a:rPr>
              <a:t>✓ gold — 0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5760720" cy="566928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679192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79192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3584" y="2679192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584" y="2679192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1368" y="2679192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1368" y="2679192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62432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2570C"/>
                </a:solidFill>
                <a:latin typeface="Calibri"/>
              </a:rPr>
              <a:t>1 error — pos 1 perturbed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82696"/>
            <a:ext cx="5760720" cy="566928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337560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3375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3584" y="3337560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" y="33375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01368" y="3337560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1368" y="33375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328269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2570C"/>
                </a:solidFill>
                <a:latin typeface="Calibri"/>
              </a:rPr>
              <a:t>1 error — pos 2 perturbed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41064"/>
            <a:ext cx="5760720" cy="566928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3995928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99592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43584" y="3995928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43584" y="399592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01368" y="3995928"/>
            <a:ext cx="5029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01368" y="399592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394106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2570C"/>
                </a:solidFill>
                <a:latin typeface="Calibri"/>
              </a:rPr>
              <a:t>1 error — pos 3 perturbed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75488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Calibri"/>
              </a:rPr>
              <a:t>× 3 edit types × up to 2 variants each → several single-error negatives per block.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173736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Each candidate carries exactly one error.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A hard negative is a copy of the gold block with a single sentence edited — never two.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A block contributes many such negatives.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One per (position × edit type × variant), so longer blocks yield more negatives, not more errors per negative.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The gold block has zero errors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 and appears once.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B2D"/>
                </a:solidFill>
                <a:latin typeface="Calibri"/>
              </a:rPr>
              <a:t>Whole pool =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all clean target blocks (they distract each other) + every block's own single-error negatives.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06 / 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THE CONTROLS — WHY LENGTH IS THE ONLY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Holding difficulty constant across block lengths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82296" cy="178308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570C"/>
                </a:solidFill>
                <a:latin typeface="Calibri"/>
              </a:rPr>
              <a:t>PARALLEL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50008"/>
            <a:ext cx="49834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The same sentence window is used in every language, so a source block and its gold target are exact translations — retrieval difficulty is not shifted by content, only by length.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82296" cy="178308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94767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570C"/>
                </a:solidFill>
                <a:latin typeface="Calibri"/>
              </a:rPr>
              <a:t>ONE FIXED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50008"/>
            <a:ext cx="49834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Every negative differs from its gold by exactly one localised edit; the other k−1 sentences are byte-identical. The error's type and size are the same at k = 2 and k = 5 — only its share of the block shrinks.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82296" cy="178308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9136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570C"/>
                </a:solidFill>
                <a:latin typeface="Calibri"/>
              </a:rPr>
              <a:t>SAME EDIT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315968"/>
            <a:ext cx="49834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The same three categories and the same variants-per-position are applied at every k. What grows with k is the surrounding clean context, i.e. the dilution — nothing about the error itself.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490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49040"/>
            <a:ext cx="82296" cy="178308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9136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2570C"/>
                </a:solidFill>
                <a:latin typeface="Calibri"/>
              </a:rPr>
              <a:t>PAIRWISE READOUT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315968"/>
            <a:ext cx="49834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The headline metric — detection rate — compares the gold block against each of its own single-error negatives one-to-one. Because it is pairwise, a larger pool cannot confound it: it isolates dilution.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07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EDGE CASES — TWO GUARDS THAT KEEP THE POOL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When an edit can't be made, and never a duplicate of the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3566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40680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566160" cy="310896"/>
          </a:xfrm>
          <a:prstGeom prst="roundRect">
            <a:avLst>
              <a:gd name="adj" fmla="val 9000"/>
            </a:avLst>
          </a:prstGeom>
          <a:solidFill>
            <a:srgbClr val="DA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Calibri"/>
              </a:rPr>
              <a:t>GUARD 1 · edit not applicable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If a sentence has no number, no detectable entity, or no lexicon match, the perturbation function returns nothing.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That (position, category) simply produces no negative. The error is never forced onto a sentence that cannot host it.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So blocks do not all have the same negative count; per-category coverage is recorded in </a:t>
            </a:r>
            <a:r>
              <a:rPr sz="1250" b="0" i="0">
                <a:solidFill>
                  <a:srgbClr val="5A6B7B"/>
                </a:solidFill>
                <a:latin typeface="Consolas"/>
              </a:rPr>
              <a:t>variant_stats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 so any gap is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440680" cy="3566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440680" cy="73152"/>
          </a:xfrm>
          <a:prstGeom prst="rect">
            <a:avLst/>
          </a:prstGeom>
          <a:solidFill>
            <a:srgbClr val="157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4114800" cy="310896"/>
          </a:xfrm>
          <a:prstGeom prst="roundRect">
            <a:avLst>
              <a:gd name="adj" fmla="val 9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41148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57347"/>
                </a:solidFill>
                <a:latin typeface="Calibri"/>
              </a:rPr>
              <a:t>GUARD 2 · never the gold in disguise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A candidate is kept only if the edited sentence actually differs from the original </a:t>
            </a:r>
            <a:r>
              <a:rPr sz="1250" b="0" i="0">
                <a:solidFill>
                  <a:srgbClr val="5A6B7B"/>
                </a:solidFill>
                <a:latin typeface="Consolas"/>
              </a:rPr>
              <a:t>(cand ≠ source)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, and duplicates are removed.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57347"/>
                </a:solidFill>
                <a:latin typeface="Calibri"/>
              </a:rPr>
              <a:t>A no-op edit therefore never enters the pool. The unperturbed block is never added as a negative — it would be identical to the gold and corrupt the labels.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Generation over-samples (up to 6× draws) to reach the target variant count while discarding no-ops and repeats.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32704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alibri"/>
              </a:rPr>
              <a:t>Net effect: </a:t>
            </a:r>
            <a:r>
              <a:rPr sz="1250" b="0" i="0">
                <a:solidFill>
                  <a:srgbClr val="0F1B2D"/>
                </a:solidFill>
                <a:latin typeface="Calibri"/>
              </a:rPr>
              <a:t>every negative in the pool is a genuine, single-sentence corruption of its own block — no forced edits, no accidental copies of the correct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08 /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STEP 3 ·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Retrieval rule and the metrics we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0F1B2D"/>
                </a:solidFill>
                <a:latin typeface="Calibri"/>
              </a:rPr>
              <a:t>Embed the query block and every candidate; retrieval picks the candidate of </a:t>
            </a:r>
            <a:r>
              <a:rPr sz="1450" b="1" i="0">
                <a:solidFill>
                  <a:srgbClr val="0F1B2D"/>
                </a:solidFill>
                <a:latin typeface="Calibri"/>
              </a:rPr>
              <a:t>maximum cosine similarity</a:t>
            </a:r>
            <a:r>
              <a:rPr sz="1450" b="0" i="0">
                <a:solidFill>
                  <a:srgbClr val="0F1B2D"/>
                </a:solidFill>
                <a:latin typeface="Calibri"/>
              </a:rPr>
              <a:t> (absolute-margin rule). A block is scored correct only if that nearest candidate is its own clean gold block.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94960" cy="896112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620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xsim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onsolas"/>
              </a:rPr>
              <a:t>clean-blocks-only pool — pure alignment (should be ≈ 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43200"/>
            <a:ext cx="5394960" cy="896112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8620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xsim++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46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onsolas"/>
              </a:rPr>
              <a:t>full pool incl. hard negatives — the aggregate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7328"/>
            <a:ext cx="5394960" cy="896112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detection rate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702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onsolas"/>
              </a:rPr>
              <a:t>P[ cos(q, clean) &gt; cos(q, perturbed) ] — length-controlled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67328"/>
            <a:ext cx="5394960" cy="896112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by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702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onsolas"/>
              </a:rPr>
              <a:t>detection vs where in the block the error sits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91456"/>
            <a:ext cx="5394960" cy="896112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103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by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943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onsolas"/>
              </a:rPr>
              <a:t>which edit type the encoder is blind 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791456"/>
            <a:ext cx="5394960" cy="896112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9103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2943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onsolas"/>
              </a:rPr>
              <a:t>gold − best-negative cosine (how decisive)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★ detection rate is the strictly length-controlled number: a pairwise gold-vs-own-negative vote, immune to pool size. 0.50 = chance.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09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RESULT · MEAN OVER DE · ES · FR · 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F1B2D"/>
                </a:solidFill>
                <a:latin typeface="Calibri"/>
              </a:rPr>
              <a:t>COMET aligns blocks perfectly — yet can't feel a buried error</a:t>
            </a:r>
          </a:p>
        </p:txBody>
      </p:sp>
      <p:pic>
        <p:nvPicPr>
          <p:cNvPr id="6" name="Picture 5" descr="xsim_vs_xsim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623560" cy="3514725"/>
          </a:xfrm>
          <a:prstGeom prst="rect">
            <a:avLst/>
          </a:prstGeom>
        </p:spPr>
      </p:pic>
      <p:pic>
        <p:nvPicPr>
          <p:cNvPr id="7" name="Picture 6" descr="detection_vs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623560" cy="3514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29200"/>
            <a:ext cx="562356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Dashed xsim (clean pool) ≈ 0 for COMET/LaBSE/E5. Solid xsim++ (with hard negatives): COMET climbs 0.72 → 0.98 as k grows.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029200"/>
            <a:ext cx="557784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Detection = P[clean closer than perturbed]. COMET &amp; Bio-COMET fall below chance from k = 3; aligners hold ~0.85 at k = 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669280"/>
            <a:ext cx="82296" cy="68580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4243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alibri"/>
              </a:rPr>
              <a:t>Finding: </a:t>
            </a:r>
            <a:r>
              <a:rPr sz="1250" b="0" i="0">
                <a:solidFill>
                  <a:srgbClr val="0F1B2D"/>
                </a:solidFill>
                <a:latin typeface="Calibri"/>
              </a:rPr>
              <a:t>COMET's encoder aligns the block flawlessly but is fooled by one perturbed sentence 72 % of the time at k = 2 and 98 % at k = 5 — from k = 3 it ranks the corrupted block closer than the clean one. The pure aligners resist.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10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RESULT ·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xsim++ error and detection rate vs block 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783080"/>
            <a:ext cx="424281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570C"/>
                </a:solidFill>
                <a:latin typeface="Calibri"/>
              </a:rPr>
              <a:t>xsim++ error   (↑ = worse)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7456" y="1783080"/>
            <a:ext cx="424281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detection rate   (↓ = worse; .50 = chance)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12264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4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96312"/>
            <a:ext cx="10771632" cy="18288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569464"/>
            <a:ext cx="10771632" cy="5486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69464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COMET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8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Bio-COMET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5344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8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0.34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739896"/>
            <a:ext cx="10771632" cy="5486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739896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LaBSE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5344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456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59568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325112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E5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95344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6048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7456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98864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59568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910328"/>
            <a:ext cx="10771632" cy="5486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910328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XLM-R (raw)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95344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56048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6752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77456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98864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59568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Bold rust = detection below .50: the encoder ranks the corrupted block closer than the clean one, on average. COMET and Bio-COMET cross that line at k = 3; LaBSE and E5 never do.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11 / 18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One planted error, four lengths, one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38528"/>
            <a:ext cx="1600200" cy="310896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CONCATENATE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20240"/>
            <a:ext cx="87782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non-overlapping k-sentence windows, same window in every language → parallel source &amp; target blocks (k = 2…5).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05456"/>
            <a:ext cx="1600200" cy="310896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05456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CORRUPT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87168"/>
            <a:ext cx="87782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one sentence per candidate, edited by one of three minimal semantic edits — causality, entity, number; the other k−1 untouched.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72384"/>
            <a:ext cx="1600200" cy="310896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72384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54096"/>
            <a:ext cx="87782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the edit is fixed across k; only the surrounding context grows. Detection rate is a pairwise, pool-size-immune readout of dilution.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39312"/>
            <a:ext cx="1600200" cy="310896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SAFEGUARDS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621024"/>
            <a:ext cx="87782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no edit is forced on a sentence that can't host it; a no-op is never added — the gold is never duplicated as a negative.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06240"/>
            <a:ext cx="1600200" cy="310896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187952"/>
            <a:ext cx="87782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COMET aligns blocks perfectly (xsim ≈ 0) but its error sensitivity dilutes fast: below chance from k = 3, 0.98 xsim++ at k = 5. Pure aligners (LaBSE, E5) resist far better.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56048"/>
            <a:ext cx="11064240" cy="1188720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56048"/>
            <a:ext cx="82296" cy="118872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65776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alibri"/>
              </a:rPr>
              <a:t>Part II — fixed-pool duels (next slides). </a:t>
            </a:r>
            <a:r>
              <a:rPr sz="1250" b="0" i="0">
                <a:solidFill>
                  <a:srgbClr val="0F1B2D"/>
                </a:solidFill>
                <a:latin typeface="Calibri"/>
              </a:rPr>
              <a:t>Pin the pool to the gold + D single-error negatives of its own block at every k, averaged over all D-subsets — constant difficulty, no pool-composition confound. </a:t>
            </a:r>
            <a:r>
              <a:rPr sz="1250" b="1" i="0">
                <a:solidFill>
                  <a:srgbClr val="C2570C"/>
                </a:solidFill>
                <a:latin typeface="Calibri"/>
              </a:rPr>
              <a:t>Coverage caveat: </a:t>
            </a:r>
            <a:r>
              <a:rPr sz="1250" b="0" i="0">
                <a:solidFill>
                  <a:srgbClr val="0F1B2D"/>
                </a:solidFill>
                <a:latin typeface="Calibri"/>
              </a:rPr>
              <a:t>D = 6 (the full k = 2 budget, 2 positions × 3 error types) requires both sentences of a k = 2 block to host all three edit types — only 78 / 846 de blocks (≈ 9 %) qualify — so D = 5 and D = 4 are scored alongside from the same embeddings, trading pool size for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12 /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PART II · FIXED-POOL DUELS — WHY 6-NEGATIVE COVERAGE IS THIN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B2D"/>
                </a:solidFill>
                <a:latin typeface="Calibri"/>
              </a:rPr>
              <a:t>A negative must be possible — six at once rarely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760720" cy="4480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A (position, category) pair yields a negative only if the edit can fire on that sentence AND change the string: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45309"/>
                </a:solidFill>
                <a:latin typeface="Calibri"/>
              </a:rPr>
              <a:t>NUMBER —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the sentence must contain a digit or an ordinal word; the redrawn value must differ.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284C7"/>
                </a:solidFill>
                <a:latin typeface="Calibri"/>
              </a:rPr>
              <a:t>ENTITY —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needs a capitalised span (≥ 2 chars) that never appears lowercased in the corpus, plus a same-width replacement in the bank.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3AED"/>
                </a:solidFill>
                <a:latin typeface="Calibri"/>
              </a:rPr>
              <a:t>CAUSALITY —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needs an antonym-lexicon hit, a boostable modal (may→will), or a negation that can be added / removed.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B2D"/>
                </a:solidFill>
                <a:latin typeface="Calibri"/>
              </a:rPr>
              <a:t>D = 6 at k = 2 demands all three categories on BOTH sentences — a conjunction of six events. FLORES sentences often lack digits, and es/fr/ru entity spans are rare, so the joint probability collapses.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German is the exception: every noun is capitalised, so the entity edit almost always applies — 78/846 blocks vs 8–9 elsewhere.</a:t>
            </a:r>
          </a:p>
        </p:txBody>
      </p:sp>
      <p:pic>
        <p:nvPicPr>
          <p:cNvPr id="7" name="Picture 6" descr="duel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5120640" cy="32186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5074920"/>
            <a:ext cx="5120640" cy="105156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51663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blocks with ≥ D negatives at k = 2 (of 846)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54864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B2D"/>
                </a:solidFill>
                <a:latin typeface="Calibri"/>
              </a:rPr>
              <a:t>de </a:t>
            </a:r>
            <a:r>
              <a:rPr sz="1000" b="0" i="0">
                <a:solidFill>
                  <a:srgbClr val="5A6B7B"/>
                </a:solidFill>
                <a:latin typeface="Consolas"/>
              </a:rPr>
              <a:t>78/293/843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54864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B2D"/>
                </a:solidFill>
                <a:latin typeface="Calibri"/>
              </a:rPr>
              <a:t>es </a:t>
            </a:r>
            <a:r>
              <a:rPr sz="1000" b="0" i="0">
                <a:solidFill>
                  <a:srgbClr val="5A6B7B"/>
                </a:solidFill>
                <a:latin typeface="Consolas"/>
              </a:rPr>
              <a:t>9/62/220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0576" y="54864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B2D"/>
                </a:solidFill>
                <a:latin typeface="Calibri"/>
              </a:rPr>
              <a:t>fr </a:t>
            </a:r>
            <a:r>
              <a:rPr sz="1000" b="0" i="0">
                <a:solidFill>
                  <a:srgbClr val="5A6B7B"/>
                </a:solidFill>
                <a:latin typeface="Consolas"/>
              </a:rPr>
              <a:t>8/56/155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7584" y="54864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B2D"/>
                </a:solidFill>
                <a:latin typeface="Calibri"/>
              </a:rPr>
              <a:t>ru </a:t>
            </a:r>
            <a:r>
              <a:rPr sz="1000" b="0" i="0">
                <a:solidFill>
                  <a:srgbClr val="5A6B7B"/>
                </a:solidFill>
                <a:latin typeface="Consolas"/>
              </a:rPr>
              <a:t>8/46/158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870448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94A2B0"/>
                </a:solidFill>
                <a:latin typeface="Calibri"/>
              </a:rPr>
              <a:t>per language: D = 6 / 5 /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13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PART II · THE FIXED-POOL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Same number of candidates at every k — the counts, exactly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21208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One variant per (position, category)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 → a k-sentence block owns at most 3k single-error negatives.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A duel is the gold + D of them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 (D = 6, 5, 4). Score = mean retrieval accuracy over ALL C(m, D) subsets of the block's m valid negatives.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Closed form, no enumeration: 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the gold wins a D-subset iff it beats every member, so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P[win] = C(w, D) / C(m, D)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w = #negatives beaten — verified against brute-force enumeration.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Blocks with m &lt; D are skipped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 — every scored duel has exactly D + 1 candidates; a tie counts against the gold.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alibri"/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alibri"/>
              </a:rPr>
              <a:t>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alibri"/>
              </a:rPr>
              <a:t>max m = 3k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alibri"/>
              </a:rPr>
              <a:t>C(3k,6)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8288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alibri"/>
              </a:rPr>
              <a:t>C(3k,5)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182880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alibri"/>
              </a:rPr>
              <a:t>C(3k,4)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231136"/>
            <a:ext cx="5852160" cy="18288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2304288"/>
            <a:ext cx="5852160" cy="512064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30428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0428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846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04288"/>
            <a:ext cx="13716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0428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30428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230428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85292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5292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468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852928"/>
            <a:ext cx="13716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85292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85292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285292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401568"/>
            <a:ext cx="5852160" cy="512064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40156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onsola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0156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276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401568"/>
            <a:ext cx="13716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40156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924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40156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792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340156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495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950208"/>
            <a:ext cx="6400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B2D"/>
                </a:solidFill>
                <a:latin typeface="Consola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95020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141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950208"/>
            <a:ext cx="13716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95020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5005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95020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3003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950208"/>
            <a:ext cx="9144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1365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70916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Calibri"/>
              </a:rPr>
              <a:t>blocks = per language (dev + devtest), identical across languages. In practice a block has m ≤ 3k valid negatives (conditions on the previous slide); the duel averages over the C(m, D) subsets that exist and skips blocks with m &lt; 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14 / 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PART II · RESULTS — CONSTANT POOL SIZE, SAME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B2D"/>
                </a:solidFill>
                <a:latin typeface="Calibri"/>
              </a:rPr>
              <a:t>Dilution survives the pool-size control</a:t>
            </a:r>
          </a:p>
        </p:txBody>
      </p:sp>
      <p:pic>
        <p:nvPicPr>
          <p:cNvPr id="6" name="Picture 5" descr="duel_err_vs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789920" cy="3442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13892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One panel per duel size; each has its own chance line D/(D+1): 6/7 ≈ .857, 5/6 ≈ .833, 4/5 = .800. Encoder ranking and the upward dilution trend are identical in all three.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8580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alibri"/>
              </a:rPr>
              <a:t>Finding: </a:t>
            </a:r>
            <a:r>
              <a:rPr sz="1250" b="0" i="0">
                <a:solidFill>
                  <a:srgbClr val="0F1B2D"/>
                </a:solidFill>
                <a:latin typeface="Calibri"/>
              </a:rPr>
              <a:t>COMET / Bio-COMET / raw XLM-R sit at or above chance from k = 2–3 even with the pool pinned to D + 1 candidates; LaBSE and E5 stay far below chance at every k. D = 4 is the recommended headline: chance drops only .857 → .800 while the k = 2 sample grows 103 → 1376 blocks (13×).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15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PART II · RESULTS —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0F1B2D"/>
                </a:solidFill>
                <a:latin typeface="Calibri"/>
              </a:rPr>
              <a:t>Duel error vs block length (mean over de · es · fr · ru)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783080"/>
            <a:ext cx="424281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570C"/>
                </a:solidFill>
                <a:latin typeface="Calibri"/>
              </a:rPr>
              <a:t>D = 6   (chance .857)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7456" y="1783080"/>
            <a:ext cx="424281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D = 4   (chance .800)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12264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4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21122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96312"/>
            <a:ext cx="10771632" cy="18288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569464"/>
            <a:ext cx="10771632" cy="5486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69464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COMET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8" y="2569464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Bio-COMET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5344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8" y="3154680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739896"/>
            <a:ext cx="10771632" cy="5486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739896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LaBSE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5344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456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59568" y="3739896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325112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E5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95344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6048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7456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98864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59568" y="4325112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0.48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910328"/>
            <a:ext cx="10771632" cy="54864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910328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XLM-R (raw)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95344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56048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6752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77456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0.87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98864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59568" y="4910328"/>
            <a:ext cx="106070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0.93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Bold rust = at or above the duel's chance line — no better than picking one of the D + 1 candidates at random. Coverage at k = 2 (blocks scored, of 3384): D = 6 → 103, D = 5 → 457, D = 4 → 1376. D = 5 sits between the two columns shown (full numbers in results/block_duel/block_duel.json).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16 / 18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PART II · SENSITIVITY BY ERROR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B2D"/>
                </a:solidFill>
                <a:latin typeface="Calibri"/>
              </a:rPr>
              <a:t>Causality errors are the hardest — for everyone</a:t>
            </a:r>
          </a:p>
        </p:txBody>
      </p:sp>
      <p:pic>
        <p:nvPicPr>
          <p:cNvPr id="6" name="Picture 5" descr="beat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11155680" cy="2124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886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P[gold beats the negative] per category (bars per k = 2,3,4,5; dotted line = chance .50). One panel per encoder.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Aligners: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number and entity swaps stay easy at k = 5 (LaBSE .96 / .89, E5 .93 / .94) but causality falls to .68–.69 — antonyms and negation move the embedding least.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COMET / Bio-COMET: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no category survives — all three are near .50 already at k = 2 (causality .56, entity .62, number .53) and sink to ~.33–.37 by k = 5. The blindness is category-independent.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17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PART II · SENSITIVITY BY ERROR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B2D"/>
                </a:solidFill>
                <a:latin typeface="Calibri"/>
              </a:rPr>
              <a:t>Where the error sits barely matters — depth does</a:t>
            </a:r>
          </a:p>
        </p:txBody>
      </p:sp>
      <p:pic>
        <p:nvPicPr>
          <p:cNvPr id="6" name="Picture 5" descr="beat_b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03504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1828800"/>
            <a:ext cx="4754880" cy="4023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7C86"/>
                </a:solidFill>
                <a:latin typeface="Calibri"/>
              </a:rPr>
              <a:t>Aligners show a mild late-position penalty. 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LaBSE at k = 5 detects .86 of first-sentence errors but .76 of last-sentence ones; E5 drifts .87 → .82. Errors buried deep in the block are slightly harder.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570C"/>
                </a:solidFill>
                <a:latin typeface="Calibri"/>
              </a:rPr>
              <a:t>COMET is uniformly blind. 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Detection is flat across positions (~.45–.48 at k = 3, ~.30–.36 at k = 5): the failure is not a positional artefact — the whole block is averaged into one vector that one sentence cannot move.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Takeaway: 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length itself, not error placement, drives the dilution.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Encoder length-sensitivity · block-level xSIM++ on FLORES+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