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920240"/>
            <a:ext cx="1051560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4600" b="1">
                <a:solidFill>
                  <a:srgbClr val="0B0B0B"/>
                </a:solidFill>
                <a:latin typeface="Calibri"/>
              </a:rPr>
              <a:t>Does training on longer text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4600" b="1">
                <a:solidFill>
                  <a:srgbClr val="0B0B0B"/>
                </a:solidFill>
                <a:latin typeface="Calibri"/>
              </a:rPr>
              <a:t>make MT metrics better?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406908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000" b="0">
                <a:solidFill>
                  <a:srgbClr val="52514E"/>
                </a:solidFill>
                <a:latin typeface="Calibri"/>
              </a:rPr>
              <a:t>Finetuning COMET and COMET-QE on WMT paragraph-level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461772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0">
                <a:solidFill>
                  <a:srgbClr val="2A78D6"/>
                </a:solidFill>
                <a:latin typeface="Calibri"/>
              </a:rPr>
              <a:t>36 training runs   ·   262,080 training examples   ·   held-out WMT + MetaDocEval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85216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0">
                <a:solidFill>
                  <a:srgbClr val="52514E"/>
                </a:solidFill>
                <a:latin typeface="Calibri"/>
              </a:rPr>
              <a:t>FDTEM  ·  August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200" b="1">
                <a:solidFill>
                  <a:srgbClr val="0B0B0B"/>
                </a:solidFill>
                <a:latin typeface="Calibri"/>
              </a:rPr>
              <a:t>The mismatch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15568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0">
                <a:solidFill>
                  <a:srgbClr val="52514E"/>
                </a:solidFill>
                <a:latin typeface="Calibri"/>
              </a:rPr>
              <a:t>COMET learns on sentences. It is applied to documents.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600200"/>
            <a:ext cx="10881360" cy="25400"/>
          </a:xfrm>
          <a:prstGeom prst="rect">
            <a:avLst/>
          </a:prstGeom>
          <a:solidFill>
            <a:srgbClr val="E3E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ig_g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5247" y="2148840"/>
            <a:ext cx="9601200" cy="224589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5120640"/>
            <a:ext cx="108813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200" b="0">
                <a:solidFill>
                  <a:srgbClr val="0B0B0B"/>
                </a:solidFill>
                <a:latin typeface="Calibri"/>
              </a:rPr>
              <a:t>Nobody knows what this costs.  Nor what fixes 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71500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200" b="1">
                <a:solidFill>
                  <a:srgbClr val="EB6834"/>
                </a:solidFill>
                <a:latin typeface="Calibri"/>
              </a:rPr>
              <a:t>We measure both.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200" b="1">
                <a:solidFill>
                  <a:srgbClr val="0B0B0B"/>
                </a:solidFill>
                <a:latin typeface="Calibri"/>
              </a:rPr>
              <a:t>What we expect to find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15568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0">
                <a:solidFill>
                  <a:srgbClr val="52514E"/>
                </a:solidFill>
                <a:latin typeface="Calibri"/>
              </a:rPr>
              <a:t>Stated before the results. The experiment can refute it.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600200"/>
            <a:ext cx="10881360" cy="25400"/>
          </a:xfrm>
          <a:prstGeom prst="rect">
            <a:avLst/>
          </a:prstGeom>
          <a:solidFill>
            <a:srgbClr val="E3E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ig_hypothes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5287" y="1828800"/>
            <a:ext cx="8961120" cy="357292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5532120"/>
            <a:ext cx="1088136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 b="0">
                <a:solidFill>
                  <a:srgbClr val="0B0B0B"/>
                </a:solidFill>
                <a:latin typeface="Calibri"/>
              </a:rPr>
              <a:t>1.  Long-only training helps on long text — and hurts on sentences.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 b="0">
                <a:solidFill>
                  <a:srgbClr val="0B0B0B"/>
                </a:solidFill>
                <a:latin typeface="Calibri"/>
              </a:rPr>
              <a:t>2.  A small share of sentences (~20%) restores the sentence-level skill.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 b="0">
                <a:solidFill>
                  <a:srgbClr val="0B0B0B"/>
                </a:solidFill>
                <a:latin typeface="Calibri"/>
              </a:rPr>
              <a:t>3.  Real documents teach more than concatenated sentences.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 b="0">
                <a:solidFill>
                  <a:srgbClr val="0B0B0B"/>
                </a:solidFill>
                <a:latin typeface="Calibri"/>
              </a:rPr>
              <a:t>4.  Better correlation ≠ understanding discourse errors.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200" b="1">
                <a:solidFill>
                  <a:srgbClr val="0B0B0B"/>
                </a:solidFill>
                <a:latin typeface="Calibri"/>
              </a:rPr>
              <a:t>Source A — real long 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15568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0">
                <a:solidFill>
                  <a:srgbClr val="52514E"/>
                </a:solidFill>
                <a:latin typeface="Calibri"/>
              </a:rPr>
              <a:t>WMT25 General MT: humans scored whole documents.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600200"/>
            <a:ext cx="10881360" cy="25400"/>
          </a:xfrm>
          <a:prstGeom prst="rect">
            <a:avLst/>
          </a:prstGeom>
          <a:solidFill>
            <a:srgbClr val="E3E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2148840"/>
            <a:ext cx="2528316" cy="1737360"/>
          </a:xfrm>
          <a:prstGeom prst="roundRect">
            <a:avLst>
              <a:gd name="adj" fmla="val 6000"/>
            </a:avLst>
          </a:prstGeom>
          <a:solidFill>
            <a:srgbClr val="F5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3000" b="1">
                <a:solidFill>
                  <a:srgbClr val="1BAF7A"/>
                </a:solidFill>
                <a:latin typeface="Calibri"/>
              </a:rPr>
              <a:t>2,625</a:t>
            </a:r>
          </a:p>
          <a:p>
            <a:pPr algn="ctr"/>
            <a:r>
              <a:rPr sz="1300">
                <a:solidFill>
                  <a:srgbClr val="52514E"/>
                </a:solidFill>
                <a:latin typeface="Calibri"/>
              </a:rPr>
              <a:t>documents
with reference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24428" y="2148840"/>
            <a:ext cx="2528316" cy="1737360"/>
          </a:xfrm>
          <a:prstGeom prst="roundRect">
            <a:avLst>
              <a:gd name="adj" fmla="val 6000"/>
            </a:avLst>
          </a:prstGeom>
          <a:solidFill>
            <a:srgbClr val="F5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3000" b="1">
                <a:solidFill>
                  <a:srgbClr val="1BAF7A"/>
                </a:solidFill>
                <a:latin typeface="Calibri"/>
              </a:rPr>
              <a:t>47,924</a:t>
            </a:r>
          </a:p>
          <a:p>
            <a:pPr algn="ctr"/>
            <a:r>
              <a:rPr sz="1300">
                <a:solidFill>
                  <a:srgbClr val="52514E"/>
                </a:solidFill>
                <a:latin typeface="Calibri"/>
              </a:rPr>
              <a:t>document × system
human scores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08776" y="2148840"/>
            <a:ext cx="2528316" cy="1737360"/>
          </a:xfrm>
          <a:prstGeom prst="roundRect">
            <a:avLst>
              <a:gd name="adj" fmla="val 6000"/>
            </a:avLst>
          </a:prstGeom>
          <a:solidFill>
            <a:srgbClr val="F5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3000" b="1">
                <a:solidFill>
                  <a:srgbClr val="1BAF7A"/>
                </a:solidFill>
                <a:latin typeface="Calibri"/>
              </a:rPr>
              <a:t>13</a:t>
            </a:r>
          </a:p>
          <a:p>
            <a:pPr algn="ctr"/>
            <a:r>
              <a:rPr sz="1300">
                <a:solidFill>
                  <a:srgbClr val="52514E"/>
                </a:solidFill>
                <a:latin typeface="Calibri"/>
              </a:rPr>
              <a:t>language pairs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993124" y="2148840"/>
            <a:ext cx="2528316" cy="1737360"/>
          </a:xfrm>
          <a:prstGeom prst="roundRect">
            <a:avLst>
              <a:gd name="adj" fmla="val 6000"/>
            </a:avLst>
          </a:prstGeom>
          <a:solidFill>
            <a:srgbClr val="F5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3000" b="1">
                <a:solidFill>
                  <a:srgbClr val="1BAF7A"/>
                </a:solidFill>
                <a:latin typeface="Calibri"/>
              </a:rPr>
              <a:t>82</a:t>
            </a:r>
          </a:p>
          <a:p>
            <a:pPr algn="ctr"/>
            <a:r>
              <a:rPr sz="1300">
                <a:solidFill>
                  <a:srgbClr val="52514E"/>
                </a:solidFill>
                <a:latin typeface="Calibri"/>
              </a:rPr>
              <a:t>words per document
(average)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343400"/>
            <a:ext cx="108813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700" b="0">
                <a:solidFill>
                  <a:srgbClr val="0B0B0B"/>
                </a:solidFill>
                <a:latin typeface="Calibri"/>
              </a:rPr>
              <a:t>Protocol:  ESA, one score 0–100 per document, plus error spans.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700" b="0">
                <a:solidFill>
                  <a:srgbClr val="0B0B0B"/>
                </a:solidFill>
                <a:latin typeface="Calibri"/>
              </a:rPr>
              <a:t>Languages we never had before:  cs→de, cs→uk, en→ar, en→ja, en→is …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700" b="0">
                <a:solidFill>
                  <a:srgbClr val="0B0B0B"/>
                </a:solidFill>
                <a:latin typeface="Calibri"/>
              </a:rPr>
              <a:t>After the validation split and the 512-token limit:  42,558 training rows.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200" b="1">
                <a:solidFill>
                  <a:srgbClr val="0B0B0B"/>
                </a:solidFill>
                <a:latin typeface="Calibri"/>
              </a:rPr>
              <a:t>Source B — sentences, aggregated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15568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0">
                <a:solidFill>
                  <a:srgbClr val="52514E"/>
                </a:solidFill>
                <a:latin typeface="Calibri"/>
              </a:rPr>
              <a:t>WMT22 MQM sentences glued into windows. The score is averaged.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600200"/>
            <a:ext cx="10881360" cy="25400"/>
          </a:xfrm>
          <a:prstGeom prst="rect">
            <a:avLst/>
          </a:prstGeom>
          <a:solidFill>
            <a:srgbClr val="E3E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ig_aggreg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4923" y="1874519"/>
            <a:ext cx="9401848" cy="32004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5349240"/>
            <a:ext cx="1088136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700" b="0">
                <a:solidFill>
                  <a:srgbClr val="0B0B0B"/>
                </a:solidFill>
                <a:latin typeface="Calibri"/>
              </a:rPr>
              <a:t>67,574 scored segments  ·  en-de, en-ru, zh-en  ·  15 MT systems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700" b="0">
                <a:solidFill>
                  <a:srgbClr val="0B0B0B"/>
                </a:solidFill>
                <a:latin typeface="Calibri"/>
              </a:rPr>
              <a:t>→ 160,377 windows.  A window keeps the same score scale as a sentence.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200" b="1">
                <a:solidFill>
                  <a:srgbClr val="0B0B0B"/>
                </a:solidFill>
                <a:latin typeface="Calibri"/>
              </a:rPr>
              <a:t>The training pool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15568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0">
                <a:solidFill>
                  <a:srgbClr val="52514E"/>
                </a:solidFill>
                <a:latin typeface="Calibri"/>
              </a:rPr>
              <a:t>Three kinds of examples. One common format: src · mt · ref · score.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600200"/>
            <a:ext cx="10881360" cy="25400"/>
          </a:xfrm>
          <a:prstGeom prst="rect">
            <a:avLst/>
          </a:prstGeom>
          <a:solidFill>
            <a:srgbClr val="E3E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ig_po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6252" y="1920240"/>
            <a:ext cx="8419191" cy="35661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5623560"/>
            <a:ext cx="108813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>
                <a:solidFill>
                  <a:srgbClr val="52514E"/>
                </a:solidFill>
                <a:latin typeface="Calibri"/>
              </a:rPr>
              <a:t>Splits are document-disjoint.  Scores are normalised per language pair.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>
                <a:solidFill>
                  <a:srgbClr val="52514E"/>
                </a:solidFill>
                <a:latin typeface="Calibri"/>
              </a:rPr>
              <a:t>Rank-based evaluation, so the normalisation changes nothing downstream.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200" b="1">
                <a:solidFill>
                  <a:srgbClr val="0B0B0B"/>
                </a:solidFill>
                <a:latin typeface="Calibri"/>
              </a:rPr>
              <a:t>The experimental lever — data mixtures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15568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0">
                <a:solidFill>
                  <a:srgbClr val="52514E"/>
                </a:solidFill>
                <a:latin typeface="Calibri"/>
              </a:rPr>
              <a:t>Same size every time. Only the composition changes.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600200"/>
            <a:ext cx="10881360" cy="25400"/>
          </a:xfrm>
          <a:prstGeom prst="rect">
            <a:avLst/>
          </a:prstGeom>
          <a:solidFill>
            <a:srgbClr val="E3E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ig_mix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327" y="1874519"/>
            <a:ext cx="10607040" cy="386569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5897880"/>
            <a:ext cx="108813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>
                <a:solidFill>
                  <a:srgbClr val="0B0B0B"/>
                </a:solidFill>
                <a:latin typeface="Calibri"/>
              </a:rPr>
              <a:t>9 mixtures × 24,000 examples.  Sampled from one shuffle, seed 42, md5 recorded.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>
                <a:solidFill>
                  <a:srgbClr val="0B0B0B"/>
                </a:solidFill>
                <a:latin typeface="Calibri"/>
              </a:rPr>
              <a:t>Two extra mixtures isolate the long data: real documents only vs aggregated only.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200" b="1">
                <a:solidFill>
                  <a:srgbClr val="0B0B0B"/>
                </a:solidFill>
                <a:latin typeface="Calibri"/>
              </a:rPr>
              <a:t>What we finetune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15568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0">
                <a:solidFill>
                  <a:srgbClr val="52514E"/>
                </a:solidFill>
                <a:latin typeface="Calibri"/>
              </a:rPr>
              <a:t>Two public metrics. Two encoder regimes. Nine mixtures.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600200"/>
            <a:ext cx="10881360" cy="25400"/>
          </a:xfrm>
          <a:prstGeom prst="rect">
            <a:avLst/>
          </a:prstGeom>
          <a:solidFill>
            <a:srgbClr val="E3E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ig_gr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257" y="1920240"/>
            <a:ext cx="10939180" cy="30175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5257800"/>
            <a:ext cx="1088136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0">
                <a:solidFill>
                  <a:srgbClr val="0B0B0B"/>
                </a:solidFill>
                <a:latin typeface="Calibri"/>
              </a:rPr>
              <a:t>COMET-DA  uses the reference.      CometKiwi QE  does not — source and translation only.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0">
                <a:solidFill>
                  <a:srgbClr val="0B0B0B"/>
                </a:solidFill>
                <a:latin typeface="Calibri"/>
              </a:rPr>
              <a:t>Frozen = only the scoring head learns.  Trained = the whole encoder adapts.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0">
                <a:solidFill>
                  <a:srgbClr val="0B0B0B"/>
                </a:solidFill>
                <a:latin typeface="Calibri"/>
              </a:rPr>
              <a:t>Everything else is identical: same schedule, same seed, early stopping on validation.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200" b="1">
                <a:solidFill>
                  <a:srgbClr val="0B0B0B"/>
                </a:solidFill>
                <a:latin typeface="Calibri"/>
              </a:rPr>
              <a:t>How we evaluate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15568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0">
                <a:solidFill>
                  <a:srgbClr val="52514E"/>
                </a:solidFill>
                <a:latin typeface="Calibri"/>
              </a:rPr>
              <a:t>Two questions. Two test sets. Neither is used in training.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600200"/>
            <a:ext cx="10881360" cy="25400"/>
          </a:xfrm>
          <a:prstGeom prst="rect">
            <a:avLst/>
          </a:prstGeom>
          <a:solidFill>
            <a:srgbClr val="E3E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ig_ev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8637" y="1874519"/>
            <a:ext cx="8174421" cy="31089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5349240"/>
            <a:ext cx="1088136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700" b="0">
                <a:solidFill>
                  <a:srgbClr val="0B0B0B"/>
                </a:solidFill>
                <a:latin typeface="Calibri"/>
              </a:rPr>
              <a:t>Does the score still track human judgement?  →  WMT23 + WMT24 paragraphs, per length.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700" b="0">
                <a:solidFill>
                  <a:srgbClr val="0B0B0B"/>
                </a:solidFill>
                <a:latin typeface="Calibri"/>
              </a:rPr>
              <a:t>Does the metric see discourse errors?  →  MetaDocEval: original vs perturbed document.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200" b="1">
                <a:solidFill>
                  <a:srgbClr val="0B0B0B"/>
                </a:solidFill>
                <a:latin typeface="Calibri"/>
              </a:rPr>
              <a:t>No contamination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15568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0">
                <a:solidFill>
                  <a:srgbClr val="52514E"/>
                </a:solidFill>
                <a:latin typeface="Calibri"/>
              </a:rPr>
              <a:t>Training years and evaluation years do not overlap.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600200"/>
            <a:ext cx="10881360" cy="25400"/>
          </a:xfrm>
          <a:prstGeom prst="rect">
            <a:avLst/>
          </a:prstGeom>
          <a:solidFill>
            <a:srgbClr val="E3E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2194560"/>
            <a:ext cx="3456432" cy="1828800"/>
          </a:xfrm>
          <a:prstGeom prst="roundRect">
            <a:avLst>
              <a:gd name="adj" fmla="val 6000"/>
            </a:avLst>
          </a:prstGeom>
          <a:solidFill>
            <a:srgbClr val="F5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3000" b="1">
                <a:solidFill>
                  <a:srgbClr val="2A78D6"/>
                </a:solidFill>
                <a:latin typeface="Calibri"/>
              </a:rPr>
              <a:t>2022 + 2025</a:t>
            </a:r>
          </a:p>
          <a:p>
            <a:pPr algn="ctr"/>
            <a:r>
              <a:rPr sz="1300">
                <a:solidFill>
                  <a:srgbClr val="52514E"/>
                </a:solidFill>
                <a:latin typeface="Calibri"/>
              </a:rPr>
              <a:t>TRAIN
sentences · documents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52544" y="2194560"/>
            <a:ext cx="3456432" cy="1828800"/>
          </a:xfrm>
          <a:prstGeom prst="roundRect">
            <a:avLst>
              <a:gd name="adj" fmla="val 6000"/>
            </a:avLst>
          </a:prstGeom>
          <a:solidFill>
            <a:srgbClr val="F5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3000" b="1">
                <a:solidFill>
                  <a:srgbClr val="2A78D6"/>
                </a:solidFill>
                <a:latin typeface="Calibri"/>
              </a:rPr>
              <a:t>2023 + 2024</a:t>
            </a:r>
          </a:p>
          <a:p>
            <a:pPr algn="ctr"/>
            <a:r>
              <a:rPr sz="1300">
                <a:solidFill>
                  <a:srgbClr val="52514E"/>
                </a:solidFill>
                <a:latin typeface="Calibri"/>
              </a:rPr>
              <a:t>TEST
paragraph correlation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65007" y="2194560"/>
            <a:ext cx="3456432" cy="1828800"/>
          </a:xfrm>
          <a:prstGeom prst="roundRect">
            <a:avLst>
              <a:gd name="adj" fmla="val 6000"/>
            </a:avLst>
          </a:prstGeom>
          <a:solidFill>
            <a:srgbClr val="F5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3000" b="1">
                <a:solidFill>
                  <a:srgbClr val="2A78D6"/>
                </a:solidFill>
                <a:latin typeface="Calibri"/>
              </a:rPr>
              <a:t>WMT24++</a:t>
            </a:r>
          </a:p>
          <a:p>
            <a:pPr algn="ctr"/>
            <a:r>
              <a:rPr sz="1300">
                <a:solidFill>
                  <a:srgbClr val="52514E"/>
                </a:solidFill>
                <a:latin typeface="Calibri"/>
              </a:rPr>
              <a:t>TEST
MetaDocEval discourse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480560"/>
            <a:ext cx="108813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700" b="0">
                <a:solidFill>
                  <a:srgbClr val="0B0B0B"/>
                </a:solidFill>
                <a:latin typeface="Calibri"/>
              </a:rPr>
              <a:t>MetaDocEval is built on WMT24 documents.  WMT24 is therefore excluded from training.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700" b="0">
                <a:solidFill>
                  <a:srgbClr val="0B0B0B"/>
                </a:solidFill>
                <a:latin typeface="Calibri"/>
              </a:rPr>
              <a:t>The held-out sets also add unseen language pairs:  en-es and ja-zh.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700" b="0">
                <a:solidFill>
                  <a:srgbClr val="0B0B0B"/>
                </a:solidFill>
                <a:latin typeface="Calibri"/>
              </a:rPr>
              <a:t>Uncertainty is measured by bootstrap over documents, not over examples.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200" b="1">
                <a:solidFill>
                  <a:srgbClr val="0B0B0B"/>
                </a:solidFill>
                <a:latin typeface="Calibri"/>
              </a:rPr>
              <a:t>Status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15568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0">
                <a:solidFill>
                  <a:srgbClr val="52514E"/>
                </a:solidFill>
                <a:latin typeface="Calibri"/>
              </a:rPr>
              <a:t>Running on the cluster.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600200"/>
            <a:ext cx="10881360" cy="25400"/>
          </a:xfrm>
          <a:prstGeom prst="rect">
            <a:avLst/>
          </a:prstGeom>
          <a:solidFill>
            <a:srgbClr val="E3E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2148840"/>
            <a:ext cx="2528316" cy="1554480"/>
          </a:xfrm>
          <a:prstGeom prst="roundRect">
            <a:avLst>
              <a:gd name="adj" fmla="val 6000"/>
            </a:avLst>
          </a:prstGeom>
          <a:solidFill>
            <a:srgbClr val="F5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3000" b="1">
                <a:solidFill>
                  <a:srgbClr val="2A78D6"/>
                </a:solidFill>
                <a:latin typeface="Calibri"/>
              </a:rPr>
              <a:t>2</a:t>
            </a:r>
          </a:p>
          <a:p>
            <a:pPr algn="ctr"/>
            <a:r>
              <a:rPr sz="1300">
                <a:solidFill>
                  <a:srgbClr val="52514E"/>
                </a:solidFill>
                <a:latin typeface="Calibri"/>
              </a:rPr>
              <a:t>runs finished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24428" y="2148840"/>
            <a:ext cx="2528316" cy="1554480"/>
          </a:xfrm>
          <a:prstGeom prst="roundRect">
            <a:avLst>
              <a:gd name="adj" fmla="val 6000"/>
            </a:avLst>
          </a:prstGeom>
          <a:solidFill>
            <a:srgbClr val="F5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3000" b="1">
                <a:solidFill>
                  <a:srgbClr val="2A78D6"/>
                </a:solidFill>
                <a:latin typeface="Calibri"/>
              </a:rPr>
              <a:t>8</a:t>
            </a:r>
          </a:p>
          <a:p>
            <a:pPr algn="ctr"/>
            <a:r>
              <a:rPr sz="1300">
                <a:solidFill>
                  <a:srgbClr val="52514E"/>
                </a:solidFill>
                <a:latin typeface="Calibri"/>
              </a:rPr>
              <a:t>running now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08776" y="2148840"/>
            <a:ext cx="2528316" cy="1554480"/>
          </a:xfrm>
          <a:prstGeom prst="roundRect">
            <a:avLst>
              <a:gd name="adj" fmla="val 6000"/>
            </a:avLst>
          </a:prstGeom>
          <a:solidFill>
            <a:srgbClr val="F5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3000" b="1">
                <a:solidFill>
                  <a:srgbClr val="2A78D6"/>
                </a:solidFill>
                <a:latin typeface="Calibri"/>
              </a:rPr>
              <a:t>26</a:t>
            </a:r>
          </a:p>
          <a:p>
            <a:pPr algn="ctr"/>
            <a:r>
              <a:rPr sz="1300">
                <a:solidFill>
                  <a:srgbClr val="52514E"/>
                </a:solidFill>
                <a:latin typeface="Calibri"/>
              </a:rPr>
              <a:t>queued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993124" y="2148840"/>
            <a:ext cx="2528316" cy="1554480"/>
          </a:xfrm>
          <a:prstGeom prst="roundRect">
            <a:avLst>
              <a:gd name="adj" fmla="val 6000"/>
            </a:avLst>
          </a:prstGeom>
          <a:solidFill>
            <a:srgbClr val="F5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3000" b="1">
                <a:solidFill>
                  <a:srgbClr val="2A78D6"/>
                </a:solidFill>
                <a:latin typeface="Calibri"/>
              </a:rPr>
              <a:t>0</a:t>
            </a:r>
          </a:p>
          <a:p>
            <a:pPr algn="ctr"/>
            <a:r>
              <a:rPr sz="1300">
                <a:solidFill>
                  <a:srgbClr val="52514E"/>
                </a:solidFill>
                <a:latin typeface="Calibri"/>
              </a:rPr>
              <a:t>failures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023360"/>
            <a:ext cx="1088136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800" b="0">
                <a:solidFill>
                  <a:srgbClr val="0B0B0B"/>
                </a:solidFill>
                <a:latin typeface="Calibri"/>
              </a:rPr>
              <a:t>First signal, preliminary:  the long-only COMET-DA run improves its validation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800" b="0">
                <a:solidFill>
                  <a:srgbClr val="0B0B0B"/>
                </a:solidFill>
                <a:latin typeface="Calibri"/>
              </a:rPr>
              <a:t>correlation from 0.285 to 0.296.  Two runs out of 36 — not yet a result.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212080"/>
            <a:ext cx="1088136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600" b="0">
                <a:solidFill>
                  <a:srgbClr val="52514E"/>
                </a:solidFill>
                <a:latin typeface="Calibri"/>
              </a:rPr>
              <a:t>Next:  full length-profile table per mixture, restoration point, frozen vs trained,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600" b="0">
                <a:solidFill>
                  <a:srgbClr val="52514E"/>
                </a:solidFill>
                <a:latin typeface="Calibri"/>
              </a:rPr>
              <a:t>DA vs QE, real documents vs aggregated sentences, then MetaDocEval accuracy.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