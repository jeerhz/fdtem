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C257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5A6B7B"/>
                </a:solidFill>
                <a:latin typeface="Calibri"/>
              </a:rPr>
              <a:t>ENCODER EVALUATION · LENGTH SENSITIVITY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554480"/>
            <a:ext cx="10789920" cy="20116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600" b="1" i="0">
                <a:solidFill>
                  <a:srgbClr val="0F1B2D"/>
                </a:solidFill>
                <a:latin typeface="Calibri"/>
              </a:rPr>
              <a:t>Do encoders still feel a single error </a:t>
            </a:r>
            <a:r>
              <a:rPr sz="3600" b="1" i="0">
                <a:solidFill>
                  <a:srgbClr val="C2570C"/>
                </a:solidFill>
                <a:latin typeface="Calibri"/>
              </a:rPr>
              <a:t>in longer text?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0" i="0">
                <a:solidFill>
                  <a:srgbClr val="5A6B7B"/>
                </a:solidFill>
                <a:latin typeface="Calibri"/>
              </a:rPr>
              <a:t>Block-level xSIM++: one planted error, diluted across k concatenated FLORES+ sentences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3794760"/>
            <a:ext cx="10515600" cy="1417320"/>
          </a:xfrm>
          <a:prstGeom prst="roundRect">
            <a:avLst>
              <a:gd name="adj" fmla="val 9000"/>
            </a:avLst>
          </a:prstGeom>
          <a:solidFill>
            <a:srgbClr val="F4F7FA"/>
          </a:solidFill>
          <a:ln w="12700">
            <a:solidFill>
              <a:srgbClr val="DB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3977639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C2570C"/>
                </a:solidFill>
                <a:latin typeface="Calibri"/>
              </a:rPr>
              <a:t>The one-line idea.  </a:t>
            </a:r>
            <a:r>
              <a:rPr sz="1500" b="0" i="0">
                <a:solidFill>
                  <a:srgbClr val="0F1B2D"/>
                </a:solidFill>
                <a:latin typeface="Calibri"/>
              </a:rPr>
              <a:t>Concatenate k parallel sentences into a block, corrupt exactly one of them with a minimal semantic edit, and test whether an encoder can still retrieve the clean translation over the corrupted one. Sweep k = 2…5 so that </a:t>
            </a:r>
            <a:r>
              <a:rPr sz="1500" b="1" i="0">
                <a:solidFill>
                  <a:srgbClr val="0F1B2D"/>
                </a:solidFill>
                <a:latin typeface="Calibri"/>
              </a:rPr>
              <a:t>length is the only thing that changes.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6235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94A2B0"/>
                </a:solidFill>
                <a:latin typeface="Calibri"/>
              </a:rPr>
              <a:t>FLORES+ dev+devtest · de · es · fr · ru · pivot en   |   encoders: COMET · Bio-COMET · XLM-R · LaBSE · E5   |   no training, retrieval only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455664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4A2B0"/>
                </a:solidFill>
                <a:latin typeface="Consolas"/>
              </a:rPr>
              <a:t>01 / 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4A2B0"/>
                </a:solidFill>
                <a:latin typeface="Calibri"/>
              </a:rPr>
              <a:t>Encoder length-sensitivity · block-level xSIM++ on FLORES+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57200"/>
            <a:ext cx="82296" cy="292608"/>
          </a:xfrm>
          <a:prstGeom prst="rect">
            <a:avLst/>
          </a:prstGeom>
          <a:solidFill>
            <a:srgbClr val="C257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457200"/>
            <a:ext cx="10789920" cy="31089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A6B7B"/>
                </a:solidFill>
                <a:latin typeface="Calibri"/>
              </a:rPr>
              <a:t>WHY THIS EXPERIMENT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2296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900" b="1" i="0">
                <a:solidFill>
                  <a:srgbClr val="0F1B2D"/>
                </a:solidFill>
                <a:latin typeface="Calibri"/>
              </a:rPr>
              <a:t>Aligning is easy; noticing one buried error is the hard part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91640"/>
            <a:ext cx="5943600" cy="4114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0F1B2D"/>
                </a:solidFill>
                <a:latin typeface="Calibri"/>
              </a:rPr>
              <a:t>A cross-lingual encoder must do two things: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500" b="0" i="0">
                <a:solidFill>
                  <a:srgbClr val="0F1B2D"/>
                </a:solidFill>
                <a:latin typeface="Calibri"/>
              </a:rPr>
              <a:t/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0F1B2D"/>
                </a:solidFill>
                <a:latin typeface="Calibri"/>
              </a:rPr>
              <a:t>1.  pull a sentence and its translation </a:t>
            </a:r>
            <a:r>
              <a:rPr sz="1500" b="1" i="0">
                <a:solidFill>
                  <a:srgbClr val="157347"/>
                </a:solidFill>
                <a:latin typeface="Calibri"/>
              </a:rPr>
              <a:t>together</a:t>
            </a:r>
            <a:r>
              <a:rPr sz="1500" b="0" i="0">
                <a:solidFill>
                  <a:srgbClr val="0F1B2D"/>
                </a:solidFill>
                <a:latin typeface="Calibri"/>
              </a:rPr>
              <a:t>;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0F1B2D"/>
                </a:solidFill>
                <a:latin typeface="Calibri"/>
              </a:rPr>
              <a:t>2.  push a </a:t>
            </a:r>
            <a:r>
              <a:rPr sz="1500" b="1" i="0">
                <a:solidFill>
                  <a:srgbClr val="C2570C"/>
                </a:solidFill>
                <a:latin typeface="Calibri"/>
              </a:rPr>
              <a:t>wrong</a:t>
            </a:r>
            <a:r>
              <a:rPr sz="1500" b="0" i="0">
                <a:solidFill>
                  <a:srgbClr val="0F1B2D"/>
                </a:solidFill>
                <a:latin typeface="Calibri"/>
              </a:rPr>
              <a:t> translation — one that is nearly identical but carries an error — farther away than the correct one.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0F1B2D"/>
                </a:solidFill>
                <a:latin typeface="Calibri"/>
              </a:rPr>
              <a:t/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0F1B2D"/>
                </a:solidFill>
                <a:latin typeface="Calibri"/>
              </a:rPr>
              <a:t>Aligners (LaBSE, E5) are trained only for (1). A quality-aware encoder like COMET must also do (2).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0F1B2D"/>
                </a:solidFill>
                <a:latin typeface="Calibri"/>
              </a:rPr>
              <a:t/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C2570C"/>
                </a:solidFill>
                <a:latin typeface="Calibri"/>
              </a:rPr>
              <a:t>The worry: </a:t>
            </a:r>
            <a:r>
              <a:rPr sz="1500" b="0" i="0">
                <a:solidFill>
                  <a:srgbClr val="0F1B2D"/>
                </a:solidFill>
                <a:latin typeface="Calibri"/>
              </a:rPr>
              <a:t>COMET only ever saw short segments in training. In a long paragraph, is a single localised error simply averaged away?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12280" y="1737360"/>
            <a:ext cx="4846320" cy="4023360"/>
          </a:xfrm>
          <a:prstGeom prst="roundRect">
            <a:avLst>
              <a:gd name="adj" fmla="val 9000"/>
            </a:avLst>
          </a:prstGeom>
          <a:solidFill>
            <a:srgbClr val="F4F7FA"/>
          </a:solidFill>
          <a:ln w="12700">
            <a:solidFill>
              <a:srgbClr val="DB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086600" y="2011680"/>
            <a:ext cx="2651760" cy="310896"/>
          </a:xfrm>
          <a:prstGeom prst="roundRect">
            <a:avLst>
              <a:gd name="adj" fmla="val 9000"/>
            </a:avLst>
          </a:prstGeom>
          <a:solidFill>
            <a:srgbClr val="DCEE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86600" y="2011680"/>
            <a:ext cx="2651760" cy="31089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157347"/>
                </a:solidFill>
                <a:latin typeface="Calibri"/>
              </a:rPr>
              <a:t>PULL TOGETHER  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86600" y="2487168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0F1B2D"/>
                </a:solidFill>
                <a:latin typeface="Consolas"/>
              </a:rPr>
              <a:t>source ↔ correct translation → close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086600" y="3246120"/>
            <a:ext cx="3108960" cy="310896"/>
          </a:xfrm>
          <a:prstGeom prst="roundRect">
            <a:avLst>
              <a:gd name="adj" fmla="val 9000"/>
            </a:avLst>
          </a:prstGeom>
          <a:solidFill>
            <a:srgbClr val="F6E2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086600" y="3246120"/>
            <a:ext cx="3108960" cy="31089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C2570C"/>
                </a:solidFill>
                <a:latin typeface="Calibri"/>
              </a:rPr>
              <a:t>PUSH APART  ✗ (the test)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86600" y="3721608"/>
            <a:ext cx="4297680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0F1B2D"/>
                </a:solidFill>
                <a:latin typeface="Consolas"/>
              </a:rPr>
              <a:t>source ↔ translation-with-one-error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0F1B2D"/>
                </a:solidFill>
                <a:latin typeface="Consolas"/>
              </a:rPr>
              <a:t>→ must stay farther than the clean one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086600" y="4709160"/>
            <a:ext cx="4297680" cy="18288"/>
          </a:xfrm>
          <a:prstGeom prst="rect">
            <a:avLst/>
          </a:prstGeom>
          <a:solidFill>
            <a:srgbClr val="DB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086600" y="4846320"/>
            <a:ext cx="429768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1">
                <a:solidFill>
                  <a:srgbClr val="5A6B7B"/>
                </a:solidFill>
                <a:latin typeface="Calibri"/>
              </a:rPr>
              <a:t>This deck measures the push-apart force, and how it decays as the block grows.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81360" y="6455664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4A2B0"/>
                </a:solidFill>
                <a:latin typeface="Consolas"/>
              </a:rPr>
              <a:t>02 / 12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4A2B0"/>
                </a:solidFill>
                <a:latin typeface="Calibri"/>
              </a:rPr>
              <a:t>Encoder length-sensitivity · block-level xSIM++ on FLORES+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57200"/>
            <a:ext cx="82296" cy="292608"/>
          </a:xfrm>
          <a:prstGeom prst="rect">
            <a:avLst/>
          </a:prstGeom>
          <a:solidFill>
            <a:srgbClr val="C257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457200"/>
            <a:ext cx="10789920" cy="31089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A6B7B"/>
                </a:solidFill>
                <a:latin typeface="Calibri"/>
              </a:rPr>
              <a:t>THE RECIPE AT A GLANCE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2296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900" b="1" i="0">
                <a:solidFill>
                  <a:srgbClr val="0F1B2D"/>
                </a:solidFill>
                <a:latin typeface="Calibri"/>
              </a:rPr>
              <a:t>A cross-lingual retrieval task, made harder one length at a time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83080"/>
            <a:ext cx="2697480" cy="29260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DB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783080"/>
            <a:ext cx="2697480" cy="73152"/>
          </a:xfrm>
          <a:prstGeom prst="rect">
            <a:avLst/>
          </a:prstGeom>
          <a:solidFill>
            <a:srgbClr val="C257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2011680"/>
            <a:ext cx="82296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F6E2D2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697480"/>
            <a:ext cx="2295144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C2570C"/>
                </a:solidFill>
                <a:latin typeface="Calibri"/>
              </a:rPr>
              <a:t>CONCATENATE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3108960"/>
            <a:ext cx="2295144" cy="1554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0F1B2D"/>
                </a:solidFill>
                <a:latin typeface="Calibri"/>
              </a:rPr>
              <a:t>k consecutive FLORES+ sentences → one block. Same window in every language, so source and target blocks stay parallel.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74136" y="1783080"/>
            <a:ext cx="2697480" cy="29260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DB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374136" y="1783080"/>
            <a:ext cx="2697480" cy="73152"/>
          </a:xfrm>
          <a:prstGeom prst="rect">
            <a:avLst/>
          </a:prstGeom>
          <a:solidFill>
            <a:srgbClr val="C257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75304" y="2011680"/>
            <a:ext cx="82296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F6E2D2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75304" y="2697480"/>
            <a:ext cx="2295144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C2570C"/>
                </a:solidFill>
                <a:latin typeface="Calibri"/>
              </a:rPr>
              <a:t>CORRUPT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75304" y="3108960"/>
            <a:ext cx="2295144" cy="1554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0F1B2D"/>
                </a:solidFill>
                <a:latin typeface="Calibri"/>
              </a:rPr>
              <a:t>Copy each target block, change exactly one sentence with a minimal semantic edit → a hard negative. Repeat per position &amp; edit type.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99632" y="1783080"/>
            <a:ext cx="2697480" cy="29260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DB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99632" y="1783080"/>
            <a:ext cx="2697480" cy="73152"/>
          </a:xfrm>
          <a:prstGeom prst="rect">
            <a:avLst/>
          </a:prstGeom>
          <a:solidFill>
            <a:srgbClr val="C257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0" y="2011680"/>
            <a:ext cx="82296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F6E2D2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2697480"/>
            <a:ext cx="2295144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C2570C"/>
                </a:solidFill>
                <a:latin typeface="Calibri"/>
              </a:rPr>
              <a:t>RETRIEVE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3108960"/>
            <a:ext cx="2295144" cy="1554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0F1B2D"/>
                </a:solidFill>
                <a:latin typeface="Calibri"/>
              </a:rPr>
              <a:t>Query = source block. Pool = every clean target block + all hard negatives. Correct only if the clean gold block is nearest.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25128" y="1783080"/>
            <a:ext cx="2697480" cy="29260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DB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025128" y="1783080"/>
            <a:ext cx="2697480" cy="73152"/>
          </a:xfrm>
          <a:prstGeom prst="rect">
            <a:avLst/>
          </a:prstGeom>
          <a:solidFill>
            <a:srgbClr val="C257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26296" y="2011680"/>
            <a:ext cx="82296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F6E2D2"/>
                </a:solidFill>
                <a:latin typeface="Calibri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26296" y="2697480"/>
            <a:ext cx="2295144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C2570C"/>
                </a:solidFill>
                <a:latin typeface="Calibri"/>
              </a:rPr>
              <a:t>SWEEP 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26296" y="3108960"/>
            <a:ext cx="2295144" cy="1554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0F1B2D"/>
                </a:solidFill>
                <a:latin typeface="Calibri"/>
              </a:rPr>
              <a:t>Run k = 2,3,4,5. The edit is unchanged; only the amount of surrounding context grows. Watch sensitivity dilute.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4937760"/>
            <a:ext cx="11064240" cy="960120"/>
          </a:xfrm>
          <a:prstGeom prst="roundRect">
            <a:avLst>
              <a:gd name="adj" fmla="val 9000"/>
            </a:avLst>
          </a:prstGeom>
          <a:solidFill>
            <a:srgbClr val="F6E2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48640" y="4937760"/>
            <a:ext cx="82296" cy="960120"/>
          </a:xfrm>
          <a:prstGeom prst="rect">
            <a:avLst/>
          </a:prstGeom>
          <a:solidFill>
            <a:srgbClr val="C257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77240" y="5074920"/>
            <a:ext cx="10698480" cy="7772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C2570C"/>
                </a:solidFill>
                <a:latin typeface="Calibri"/>
              </a:rPr>
              <a:t>Read the whole deck as: </a:t>
            </a:r>
            <a:r>
              <a:rPr sz="1350" b="0" i="0">
                <a:solidFill>
                  <a:srgbClr val="0F1B2D"/>
                </a:solidFill>
                <a:latin typeface="Calibri"/>
              </a:rPr>
              <a:t>hold the error fixed, vary the length, and see when the encoder stops reacting. Everything that follows exists to make length the single independent variable.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881360" y="6455664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4A2B0"/>
                </a:solidFill>
                <a:latin typeface="Consolas"/>
              </a:rPr>
              <a:t>03 / 12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4A2B0"/>
                </a:solidFill>
                <a:latin typeface="Calibri"/>
              </a:rPr>
              <a:t>Encoder length-sensitivity · block-level xSIM++ on FLORES+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57200"/>
            <a:ext cx="82296" cy="292608"/>
          </a:xfrm>
          <a:prstGeom prst="rect">
            <a:avLst/>
          </a:prstGeom>
          <a:solidFill>
            <a:srgbClr val="C257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457200"/>
            <a:ext cx="10789920" cy="31089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A6B7B"/>
                </a:solidFill>
                <a:latin typeface="Calibri"/>
              </a:rPr>
              <a:t>STEP 1 · CONCATENATION — PRECISELY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2296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900" b="1" i="0">
                <a:solidFill>
                  <a:srgbClr val="0F1B2D"/>
                </a:solidFill>
                <a:latin typeface="Calibri"/>
              </a:rPr>
              <a:t>How sentences become parallel blocks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91640"/>
            <a:ext cx="5852160" cy="42062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0F1B2D"/>
                </a:solidFill>
                <a:latin typeface="Calibri"/>
              </a:rPr>
              <a:t>Non-overlapping windows. </a:t>
            </a:r>
            <a:r>
              <a:rPr sz="1400" b="0" i="0">
                <a:solidFill>
                  <a:srgbClr val="0F1B2D"/>
                </a:solidFill>
                <a:latin typeface="Calibri"/>
              </a:rPr>
              <a:t>Within one FLORES+ article (rows share a url), take k consecutive sentences with stride = k. Windows never overlap, so no two blocks are near-duplicates.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</a:pPr>
            <a:r>
              <a:rPr sz="500" b="0" i="0">
                <a:solidFill>
                  <a:srgbClr val="0F1B2D"/>
                </a:solidFill>
                <a:latin typeface="Calibri"/>
              </a:rPr>
              <a:t/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0F1B2D"/>
                </a:solidFill>
                <a:latin typeface="Calibri"/>
              </a:rPr>
              <a:t>Same window, every language. </a:t>
            </a:r>
            <a:r>
              <a:rPr sz="1400" b="0" i="0">
                <a:solidFill>
                  <a:srgbClr val="0F1B2D"/>
                </a:solidFill>
                <a:latin typeface="Calibri"/>
              </a:rPr>
              <a:t>The identical row range is applied to en, de, es, fr, ru — the source block and each target block are exact translations of one another.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</a:pPr>
            <a:r>
              <a:rPr sz="500" b="0" i="0">
                <a:solidFill>
                  <a:srgbClr val="0F1B2D"/>
                </a:solidFill>
                <a:latin typeface="Calibri"/>
              </a:rPr>
              <a:t/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0F1B2D"/>
                </a:solidFill>
                <a:latin typeface="Calibri"/>
              </a:rPr>
              <a:t>Join rule. </a:t>
            </a:r>
            <a:r>
              <a:rPr sz="1400" b="0" i="0">
                <a:solidFill>
                  <a:srgbClr val="0F1B2D"/>
                </a:solidFill>
                <a:latin typeface="Calibri"/>
              </a:rPr>
              <a:t>Sentences are joined with a single space (with no separator for space-less scripts zh/ja/th). Nothing else is inserted.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</a:pPr>
            <a:r>
              <a:rPr sz="500" b="0" i="0">
                <a:solidFill>
                  <a:srgbClr val="0F1B2D"/>
                </a:solidFill>
                <a:latin typeface="Calibri"/>
              </a:rPr>
              <a:t/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0F1B2D"/>
                </a:solidFill>
                <a:latin typeface="Calibri"/>
              </a:rPr>
              <a:t>Only full blocks. </a:t>
            </a:r>
            <a:r>
              <a:rPr sz="1400" b="0" i="0">
                <a:solidFill>
                  <a:srgbClr val="0F1B2D"/>
                </a:solidFill>
                <a:latin typeface="Calibri"/>
              </a:rPr>
              <a:t>A leftover tail shorter than k, or a window that would cross an article boundary, is discarded.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29400" y="169164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5A6B7B"/>
                </a:solidFill>
                <a:latin typeface="Calibri"/>
              </a:rPr>
              <a:t>ONE ARTICLE · k = 3 · parallel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29400" y="2084831"/>
            <a:ext cx="365760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5A6B7B"/>
                </a:solidFill>
                <a:latin typeface="Calibri"/>
              </a:rPr>
              <a:t>EN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086600" y="2084831"/>
            <a:ext cx="566928" cy="4572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5875">
            <a:solidFill>
              <a:srgbClr val="C257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086600" y="2084831"/>
            <a:ext cx="566928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A6B7B"/>
                </a:solidFill>
                <a:latin typeface="Consolas"/>
              </a:rPr>
              <a:t>s1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08392" y="2084831"/>
            <a:ext cx="566928" cy="4572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5875">
            <a:solidFill>
              <a:srgbClr val="C257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08392" y="2084831"/>
            <a:ext cx="566928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A6B7B"/>
                </a:solidFill>
                <a:latin typeface="Consolas"/>
              </a:rPr>
              <a:t>s2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330184" y="2084831"/>
            <a:ext cx="566928" cy="4572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5875">
            <a:solidFill>
              <a:srgbClr val="C257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30184" y="2084831"/>
            <a:ext cx="566928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A6B7B"/>
                </a:solidFill>
                <a:latin typeface="Consolas"/>
              </a:rPr>
              <a:t>s3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61704" y="2084831"/>
            <a:ext cx="566928" cy="4572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5875">
            <a:solidFill>
              <a:srgbClr val="DB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61704" y="2084831"/>
            <a:ext cx="566928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94A2B0"/>
                </a:solidFill>
                <a:latin typeface="Consolas"/>
              </a:rPr>
              <a:t>s4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683496" y="2084831"/>
            <a:ext cx="566928" cy="4572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5875">
            <a:solidFill>
              <a:srgbClr val="DB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83496" y="2084831"/>
            <a:ext cx="566928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94A2B0"/>
                </a:solidFill>
                <a:latin typeface="Consolas"/>
              </a:rPr>
              <a:t>s5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305288" y="2084831"/>
            <a:ext cx="566928" cy="4572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5875">
            <a:solidFill>
              <a:srgbClr val="DB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05288" y="2084831"/>
            <a:ext cx="566928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94A2B0"/>
                </a:solidFill>
                <a:latin typeface="Consolas"/>
              </a:rPr>
              <a:t>s6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29400" y="2679192"/>
            <a:ext cx="365760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5A6B7B"/>
                </a:solidFill>
                <a:latin typeface="Calibri"/>
              </a:rPr>
              <a:t>DE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086600" y="2679192"/>
            <a:ext cx="566928" cy="4572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5875">
            <a:solidFill>
              <a:srgbClr val="C257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86600" y="2679192"/>
            <a:ext cx="566928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A6B7B"/>
                </a:solidFill>
                <a:latin typeface="Consolas"/>
              </a:rPr>
              <a:t>t1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708392" y="2679192"/>
            <a:ext cx="566928" cy="4572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5875">
            <a:solidFill>
              <a:srgbClr val="C257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08392" y="2679192"/>
            <a:ext cx="566928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A6B7B"/>
                </a:solidFill>
                <a:latin typeface="Consolas"/>
              </a:rPr>
              <a:t>t2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330184" y="2679192"/>
            <a:ext cx="566928" cy="4572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5875">
            <a:solidFill>
              <a:srgbClr val="C257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30184" y="2679192"/>
            <a:ext cx="566928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A6B7B"/>
                </a:solidFill>
                <a:latin typeface="Consolas"/>
              </a:rPr>
              <a:t>t3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061704" y="2679192"/>
            <a:ext cx="566928" cy="4572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5875">
            <a:solidFill>
              <a:srgbClr val="DB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061704" y="2679192"/>
            <a:ext cx="566928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94A2B0"/>
                </a:solidFill>
                <a:latin typeface="Consolas"/>
              </a:rPr>
              <a:t>t4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683496" y="2679192"/>
            <a:ext cx="566928" cy="4572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5875">
            <a:solidFill>
              <a:srgbClr val="DB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683496" y="2679192"/>
            <a:ext cx="566928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94A2B0"/>
                </a:solidFill>
                <a:latin typeface="Consolas"/>
              </a:rPr>
              <a:t>t5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305288" y="2679192"/>
            <a:ext cx="566928" cy="4572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5875">
            <a:solidFill>
              <a:srgbClr val="DB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305288" y="2679192"/>
            <a:ext cx="566928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94A2B0"/>
                </a:solidFill>
                <a:latin typeface="Consolas"/>
              </a:rPr>
              <a:t>t6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629400" y="3273552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1">
                <a:solidFill>
                  <a:srgbClr val="5A6B7B"/>
                </a:solidFill>
                <a:latin typeface="Consolas"/>
              </a:rPr>
              <a:t>→ query = «s1 s2 s3»    gold = «t1 t2 t3»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086600" y="3794760"/>
            <a:ext cx="4114800" cy="1920240"/>
          </a:xfrm>
          <a:prstGeom prst="roundRect">
            <a:avLst>
              <a:gd name="adj" fmla="val 9000"/>
            </a:avLst>
          </a:prstGeom>
          <a:solidFill>
            <a:srgbClr val="F4F7FA"/>
          </a:solidFill>
          <a:ln w="12700">
            <a:solidFill>
              <a:srgbClr val="DB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269480" y="3904487"/>
            <a:ext cx="3749039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C2570C"/>
                </a:solidFill>
                <a:latin typeface="Calibri"/>
              </a:rPr>
              <a:t>blocks per language (de, dev+devtest)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269480" y="4224528"/>
            <a:ext cx="1828800" cy="31089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0F1B2D"/>
                </a:solidFill>
                <a:latin typeface="Calibri"/>
              </a:rPr>
              <a:t>k = 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44000" y="4224528"/>
            <a:ext cx="1828800" cy="31089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0F1B2D"/>
                </a:solidFill>
                <a:latin typeface="Consolas"/>
              </a:rPr>
              <a:t>846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69480" y="4572000"/>
            <a:ext cx="1828800" cy="31089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0F1B2D"/>
                </a:solidFill>
                <a:latin typeface="Calibri"/>
              </a:rPr>
              <a:t>k = 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44000" y="4572000"/>
            <a:ext cx="1828800" cy="31089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0F1B2D"/>
                </a:solidFill>
                <a:latin typeface="Consolas"/>
              </a:rPr>
              <a:t>468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69480" y="4919472"/>
            <a:ext cx="1828800" cy="31089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0F1B2D"/>
                </a:solidFill>
                <a:latin typeface="Calibri"/>
              </a:rPr>
              <a:t>k = 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44000" y="4919472"/>
            <a:ext cx="1828800" cy="31089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0F1B2D"/>
                </a:solidFill>
                <a:latin typeface="Consolas"/>
              </a:rPr>
              <a:t>276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269480" y="5266944"/>
            <a:ext cx="1828800" cy="31089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0F1B2D"/>
                </a:solidFill>
                <a:latin typeface="Calibri"/>
              </a:rPr>
              <a:t>k = 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4000" y="5266944"/>
            <a:ext cx="1828800" cy="31089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0F1B2D"/>
                </a:solidFill>
                <a:latin typeface="Consolas"/>
              </a:rPr>
              <a:t>141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881360" y="6455664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4A2B0"/>
                </a:solidFill>
                <a:latin typeface="Consolas"/>
              </a:rPr>
              <a:t>04 / 12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48640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4A2B0"/>
                </a:solidFill>
                <a:latin typeface="Calibri"/>
              </a:rPr>
              <a:t>Encoder length-sensitivity · block-level xSIM++ on FLORES+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57200"/>
            <a:ext cx="82296" cy="292608"/>
          </a:xfrm>
          <a:prstGeom prst="rect">
            <a:avLst/>
          </a:prstGeom>
          <a:solidFill>
            <a:srgbClr val="C257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457200"/>
            <a:ext cx="10789920" cy="31089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A6B7B"/>
                </a:solidFill>
                <a:latin typeface="Calibri"/>
              </a:rPr>
              <a:t>STEP 2 · THE ERRORS — PRECISELY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2296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900" b="1" i="0">
                <a:solidFill>
                  <a:srgbClr val="0F1B2D"/>
                </a:solidFill>
                <a:latin typeface="Calibri"/>
              </a:rPr>
              <a:t>Three edit types, each a minimal meaning change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00200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0F1B2D"/>
                </a:solidFill>
                <a:latin typeface="Calibri"/>
              </a:rPr>
              <a:t>The three perturbation families of xSIM++ (§2.2). Each edit changes one sentence's meaning with the smallest possible surface change, so the block stays fluent and near-identical.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286000"/>
            <a:ext cx="3611880" cy="233172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DB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2286000"/>
            <a:ext cx="3611880" cy="7315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31520" y="2468880"/>
            <a:ext cx="1737360" cy="310896"/>
          </a:xfrm>
          <a:prstGeom prst="roundRect">
            <a:avLst>
              <a:gd name="adj" fmla="val 9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468880"/>
            <a:ext cx="1737360" cy="31089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7C3AED"/>
                </a:solidFill>
                <a:latin typeface="Calibri"/>
              </a:rPr>
              <a:t>CAUSALITY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926080"/>
            <a:ext cx="3246120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0F1B2D"/>
                </a:solidFill>
                <a:latin typeface="Calibri"/>
              </a:rPr>
              <a:t>antonym swap · add/remove a negation · strengthen a modal (may→will)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886200"/>
            <a:ext cx="324612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5A6B7B"/>
                </a:solidFill>
                <a:latin typeface="Consolas"/>
              </a:rPr>
              <a:t>«…ne s'amélioreraient pas» → «…s'amélioreraient»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251960"/>
            <a:ext cx="324612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5A6B7B"/>
                </a:solidFill>
                <a:latin typeface="Consolas"/>
              </a:rPr>
              <a:t>«augmenter de 12 %» → «diminuer de 12 %»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25112" y="2286000"/>
            <a:ext cx="3611880" cy="233172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DB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25112" y="2286000"/>
            <a:ext cx="3611880" cy="73152"/>
          </a:xfrm>
          <a:prstGeom prst="rect">
            <a:avLst/>
          </a:prstGeom>
          <a:solidFill>
            <a:srgbClr val="028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507992" y="2468880"/>
            <a:ext cx="1737360" cy="310896"/>
          </a:xfrm>
          <a:prstGeom prst="roundRect">
            <a:avLst>
              <a:gd name="adj" fmla="val 9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07992" y="2468880"/>
            <a:ext cx="1737360" cy="31089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0284C7"/>
                </a:solidFill>
                <a:latin typeface="Calibri"/>
              </a:rPr>
              <a:t>ENTITY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07992" y="2926080"/>
            <a:ext cx="3246120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0F1B2D"/>
                </a:solidFill>
                <a:latin typeface="Calibri"/>
              </a:rPr>
              <a:t>replace a detected named-entity span with another of the same width, sampled from a corpus-wide bank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07992" y="3886200"/>
            <a:ext cx="324612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5A6B7B"/>
                </a:solidFill>
                <a:latin typeface="Consolas"/>
              </a:rPr>
              <a:t>«chercheurs de Stanford» → «chercheurs de Pittman»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01584" y="2286000"/>
            <a:ext cx="3611880" cy="233172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DB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101584" y="2286000"/>
            <a:ext cx="3611880" cy="73152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284464" y="2468880"/>
            <a:ext cx="1737360" cy="310896"/>
          </a:xfrm>
          <a:prstGeom prst="roundRect">
            <a:avLst>
              <a:gd name="adj" fmla="val 9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84464" y="2468880"/>
            <a:ext cx="1737360" cy="31089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B45309"/>
                </a:solidFill>
                <a:latin typeface="Calibri"/>
              </a:rPr>
              <a:t>NUMBER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84464" y="2926080"/>
            <a:ext cx="3246120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0F1B2D"/>
                </a:solidFill>
                <a:latin typeface="Calibri"/>
              </a:rPr>
              <a:t>replace a digit with a random different value of the same length, or swap an ordinal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84464" y="3886200"/>
            <a:ext cx="324612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5A6B7B"/>
                </a:solidFill>
                <a:latin typeface="Consolas"/>
              </a:rPr>
              <a:t>«88 personnes» → «89 personnes»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84464" y="4251960"/>
            <a:ext cx="324612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5A6B7B"/>
                </a:solidFill>
                <a:latin typeface="Consolas"/>
              </a:rPr>
              <a:t>«première réunion» → «dixième réunion»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4892040"/>
            <a:ext cx="11064240" cy="1051560"/>
          </a:xfrm>
          <a:prstGeom prst="roundRect">
            <a:avLst>
              <a:gd name="adj" fmla="val 9000"/>
            </a:avLst>
          </a:prstGeom>
          <a:solidFill>
            <a:srgbClr val="F4F7FA"/>
          </a:solidFill>
          <a:ln w="12700">
            <a:solidFill>
              <a:srgbClr val="DB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77240" y="5010912"/>
            <a:ext cx="10698480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2570C"/>
                </a:solidFill>
                <a:latin typeface="Calibri"/>
              </a:rPr>
              <a:t>Which sentence, which side?  </a:t>
            </a:r>
            <a:r>
              <a:rPr sz="1300" b="0" i="0">
                <a:solidFill>
                  <a:srgbClr val="0F1B2D"/>
                </a:solidFill>
                <a:latin typeface="Calibri"/>
              </a:rPr>
              <a:t>Edits are applied to the pool side — the translations (direction en2xx) — to exactly one sentence at one position; the other k−1 sentences are left byte-identical. All edits are deterministic: the RNG is seeded from (seed, language, category, sentence, variant index), so the whole pool is reproducible.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881360" y="6455664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4A2B0"/>
                </a:solidFill>
                <a:latin typeface="Consolas"/>
              </a:rPr>
              <a:t>05 / 12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4A2B0"/>
                </a:solidFill>
                <a:latin typeface="Calibri"/>
              </a:rPr>
              <a:t>Encoder length-sensitivity · block-level xSIM++ on FLORES+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57200"/>
            <a:ext cx="82296" cy="292608"/>
          </a:xfrm>
          <a:prstGeom prst="rect">
            <a:avLst/>
          </a:prstGeom>
          <a:solidFill>
            <a:srgbClr val="C257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457200"/>
            <a:ext cx="10789920" cy="31089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A6B7B"/>
                </a:solidFill>
                <a:latin typeface="Calibri"/>
              </a:rPr>
              <a:t>STEP 3 · THE POOL — HOW MANY ERRORS PER BLOCK?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2296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900" b="1" i="0">
                <a:solidFill>
                  <a:srgbClr val="0F1B2D"/>
                </a:solidFill>
                <a:latin typeface="Calibri"/>
              </a:rPr>
              <a:t>One error per candidate — many single-error candidates per block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57607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5A6B7B"/>
                </a:solidFill>
                <a:latin typeface="Calibri"/>
              </a:rPr>
              <a:t>CANDIDATE POOL for one block (k = 3)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965960"/>
            <a:ext cx="5760720" cy="566928"/>
          </a:xfrm>
          <a:prstGeom prst="roundRect">
            <a:avLst>
              <a:gd name="adj" fmla="val 9000"/>
            </a:avLst>
          </a:prstGeom>
          <a:solidFill>
            <a:srgbClr val="DCEEE2"/>
          </a:solidFill>
          <a:ln w="19050">
            <a:solidFill>
              <a:srgbClr val="1573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85800" y="2020824"/>
            <a:ext cx="502920" cy="4572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5875">
            <a:solidFill>
              <a:srgbClr val="1573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020824"/>
            <a:ext cx="502920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A6B7B"/>
                </a:solidFill>
                <a:latin typeface="Consolas"/>
              </a:rPr>
              <a:t>t1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243584" y="2020824"/>
            <a:ext cx="502920" cy="4572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5875">
            <a:solidFill>
              <a:srgbClr val="1573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43584" y="2020824"/>
            <a:ext cx="502920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A6B7B"/>
                </a:solidFill>
                <a:latin typeface="Consolas"/>
              </a:rPr>
              <a:t>t2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801368" y="2020824"/>
            <a:ext cx="502920" cy="4572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5875">
            <a:solidFill>
              <a:srgbClr val="1573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801368" y="2020824"/>
            <a:ext cx="502920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A6B7B"/>
                </a:solidFill>
                <a:latin typeface="Consolas"/>
              </a:rPr>
              <a:t>t3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51760" y="1965960"/>
            <a:ext cx="3566160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157347"/>
                </a:solidFill>
                <a:latin typeface="Calibri"/>
              </a:rPr>
              <a:t>✓ gold — 0 errors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2624328"/>
            <a:ext cx="5760720" cy="566928"/>
          </a:xfrm>
          <a:prstGeom prst="roundRect">
            <a:avLst>
              <a:gd name="adj" fmla="val 9000"/>
            </a:avLst>
          </a:prstGeom>
          <a:solidFill>
            <a:srgbClr val="F6E2D2"/>
          </a:solidFill>
          <a:ln w="15875">
            <a:solidFill>
              <a:srgbClr val="C257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85800" y="2679192"/>
            <a:ext cx="502920" cy="4572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5875">
            <a:solidFill>
              <a:srgbClr val="C257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2679192"/>
            <a:ext cx="502920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A6B7B"/>
                </a:solidFill>
                <a:latin typeface="Consolas"/>
              </a:rPr>
              <a:t>t1*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43584" y="2679192"/>
            <a:ext cx="502920" cy="4572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5875">
            <a:solidFill>
              <a:srgbClr val="C257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43584" y="2679192"/>
            <a:ext cx="502920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A6B7B"/>
                </a:solidFill>
                <a:latin typeface="Consolas"/>
              </a:rPr>
              <a:t>t2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801368" y="2679192"/>
            <a:ext cx="502920" cy="4572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5875">
            <a:solidFill>
              <a:srgbClr val="C257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801368" y="2679192"/>
            <a:ext cx="502920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A6B7B"/>
                </a:solidFill>
                <a:latin typeface="Consolas"/>
              </a:rPr>
              <a:t>t3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51760" y="2624328"/>
            <a:ext cx="3566160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C2570C"/>
                </a:solidFill>
                <a:latin typeface="Calibri"/>
              </a:rPr>
              <a:t>1 error — pos 1 perturbed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3282696"/>
            <a:ext cx="5760720" cy="566928"/>
          </a:xfrm>
          <a:prstGeom prst="roundRect">
            <a:avLst>
              <a:gd name="adj" fmla="val 9000"/>
            </a:avLst>
          </a:prstGeom>
          <a:solidFill>
            <a:srgbClr val="F6E2D2"/>
          </a:solidFill>
          <a:ln w="15875">
            <a:solidFill>
              <a:srgbClr val="C257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85800" y="3337560"/>
            <a:ext cx="502920" cy="4572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5875">
            <a:solidFill>
              <a:srgbClr val="C257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3337560"/>
            <a:ext cx="502920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A6B7B"/>
                </a:solidFill>
                <a:latin typeface="Consolas"/>
              </a:rPr>
              <a:t>t1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243584" y="3337560"/>
            <a:ext cx="502920" cy="4572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5875">
            <a:solidFill>
              <a:srgbClr val="C257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43584" y="3337560"/>
            <a:ext cx="502920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A6B7B"/>
                </a:solidFill>
                <a:latin typeface="Consolas"/>
              </a:rPr>
              <a:t>t2*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801368" y="3337560"/>
            <a:ext cx="502920" cy="4572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5875">
            <a:solidFill>
              <a:srgbClr val="C257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801368" y="3337560"/>
            <a:ext cx="502920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A6B7B"/>
                </a:solidFill>
                <a:latin typeface="Consolas"/>
              </a:rPr>
              <a:t>t3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651760" y="3282696"/>
            <a:ext cx="3566160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C2570C"/>
                </a:solidFill>
                <a:latin typeface="Calibri"/>
              </a:rPr>
              <a:t>1 error — pos 2 perturbed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48640" y="3941064"/>
            <a:ext cx="5760720" cy="566928"/>
          </a:xfrm>
          <a:prstGeom prst="roundRect">
            <a:avLst>
              <a:gd name="adj" fmla="val 9000"/>
            </a:avLst>
          </a:prstGeom>
          <a:solidFill>
            <a:srgbClr val="F6E2D2"/>
          </a:solidFill>
          <a:ln w="15875">
            <a:solidFill>
              <a:srgbClr val="C257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685800" y="3995928"/>
            <a:ext cx="502920" cy="4572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5875">
            <a:solidFill>
              <a:srgbClr val="C257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5800" y="3995928"/>
            <a:ext cx="502920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A6B7B"/>
                </a:solidFill>
                <a:latin typeface="Consolas"/>
              </a:rPr>
              <a:t>t1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243584" y="3995928"/>
            <a:ext cx="502920" cy="4572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5875">
            <a:solidFill>
              <a:srgbClr val="C257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243584" y="3995928"/>
            <a:ext cx="502920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A6B7B"/>
                </a:solidFill>
                <a:latin typeface="Consolas"/>
              </a:rPr>
              <a:t>t2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801368" y="3995928"/>
            <a:ext cx="502920" cy="4572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5875">
            <a:solidFill>
              <a:srgbClr val="C257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801368" y="3995928"/>
            <a:ext cx="502920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A6B7B"/>
                </a:solidFill>
                <a:latin typeface="Consolas"/>
              </a:rPr>
              <a:t>t3*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651760" y="3941064"/>
            <a:ext cx="3566160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C2570C"/>
                </a:solidFill>
                <a:latin typeface="Calibri"/>
              </a:rPr>
              <a:t>1 error — pos 3 perturbed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640" y="4754880"/>
            <a:ext cx="576072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1">
                <a:solidFill>
                  <a:srgbClr val="5A6B7B"/>
                </a:solidFill>
                <a:latin typeface="Calibri"/>
              </a:rPr>
              <a:t>× 3 edit types × up to 2 variants each → several single-error negatives per block.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83680" y="1737360"/>
            <a:ext cx="5029200" cy="4023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0F1B2D"/>
                </a:solidFill>
                <a:latin typeface="Calibri"/>
              </a:rPr>
              <a:t>Each candidate carries exactly one error.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0F1B2D"/>
                </a:solidFill>
                <a:latin typeface="Calibri"/>
              </a:rPr>
              <a:t>A hard negative is a copy of the gold block with a single sentence edited — never two.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</a:pPr>
            <a:r>
              <a:rPr sz="500" b="0" i="0">
                <a:solidFill>
                  <a:srgbClr val="0F1B2D"/>
                </a:solidFill>
                <a:latin typeface="Calibri"/>
              </a:rPr>
              <a:t/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0F1B2D"/>
                </a:solidFill>
                <a:latin typeface="Calibri"/>
              </a:rPr>
              <a:t>A block contributes many such negatives.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0F1B2D"/>
                </a:solidFill>
                <a:latin typeface="Calibri"/>
              </a:rPr>
              <a:t>One per (position × edit type × variant), so longer blocks yield more negatives, not more errors per negative.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</a:pPr>
            <a:r>
              <a:rPr sz="500" b="0" i="0">
                <a:solidFill>
                  <a:srgbClr val="0F1B2D"/>
                </a:solidFill>
                <a:latin typeface="Calibri"/>
              </a:rPr>
              <a:t/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0F1B2D"/>
                </a:solidFill>
                <a:latin typeface="Calibri"/>
              </a:rPr>
              <a:t>The gold block has zero errors</a:t>
            </a:r>
            <a:r>
              <a:rPr sz="1300" b="0" i="0">
                <a:solidFill>
                  <a:srgbClr val="0F1B2D"/>
                </a:solidFill>
                <a:latin typeface="Calibri"/>
              </a:rPr>
              <a:t> and appears once.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</a:pPr>
            <a:r>
              <a:rPr sz="500" b="0" i="0">
                <a:solidFill>
                  <a:srgbClr val="0F1B2D"/>
                </a:solidFill>
                <a:latin typeface="Calibri"/>
              </a:rPr>
              <a:t/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0F1B2D"/>
                </a:solidFill>
                <a:latin typeface="Calibri"/>
              </a:rPr>
              <a:t>Whole pool = </a:t>
            </a:r>
            <a:r>
              <a:rPr sz="1300" b="0" i="0">
                <a:solidFill>
                  <a:srgbClr val="0F1B2D"/>
                </a:solidFill>
                <a:latin typeface="Calibri"/>
              </a:rPr>
              <a:t>all clean target blocks (they distract each other) + every block's own single-error negatives.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881360" y="6455664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4A2B0"/>
                </a:solidFill>
                <a:latin typeface="Consolas"/>
              </a:rPr>
              <a:t>06 / 12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48640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4A2B0"/>
                </a:solidFill>
                <a:latin typeface="Calibri"/>
              </a:rPr>
              <a:t>Encoder length-sensitivity · block-level xSIM++ on FLORES+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57200"/>
            <a:ext cx="82296" cy="292608"/>
          </a:xfrm>
          <a:prstGeom prst="rect">
            <a:avLst/>
          </a:prstGeom>
          <a:solidFill>
            <a:srgbClr val="C257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457200"/>
            <a:ext cx="10789920" cy="31089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A6B7B"/>
                </a:solidFill>
                <a:latin typeface="Calibri"/>
              </a:rPr>
              <a:t>THE CONTROLS — WHY LENGTH IS THE ONLY VARIABLE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2296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900" b="1" i="0">
                <a:solidFill>
                  <a:srgbClr val="0F1B2D"/>
                </a:solidFill>
                <a:latin typeface="Calibri"/>
              </a:rPr>
              <a:t>Holding difficulty constant across block lengths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83080"/>
            <a:ext cx="5440680" cy="17830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DB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783080"/>
            <a:ext cx="82296" cy="1783080"/>
          </a:xfrm>
          <a:prstGeom prst="rect">
            <a:avLst/>
          </a:prstGeom>
          <a:solidFill>
            <a:srgbClr val="C257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1947672"/>
            <a:ext cx="498348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2570C"/>
                </a:solidFill>
                <a:latin typeface="Calibri"/>
              </a:rPr>
              <a:t>PARALLEL BLOCKS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2350008"/>
            <a:ext cx="4983480" cy="1143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0F1B2D"/>
                </a:solidFill>
                <a:latin typeface="Calibri"/>
              </a:rPr>
              <a:t>The same sentence window is used in every language, so a source block and its gold target are exact translations — retrieval difficulty is not shifted by content, only by length.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783080"/>
            <a:ext cx="5440680" cy="17830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DB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72200" y="1783080"/>
            <a:ext cx="82296" cy="1783080"/>
          </a:xfrm>
          <a:prstGeom prst="rect">
            <a:avLst/>
          </a:prstGeom>
          <a:solidFill>
            <a:srgbClr val="C257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947672"/>
            <a:ext cx="498348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2570C"/>
                </a:solidFill>
                <a:latin typeface="Calibri"/>
              </a:rPr>
              <a:t>ONE FIXED EDIT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28232" y="2350008"/>
            <a:ext cx="4983480" cy="1143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0F1B2D"/>
                </a:solidFill>
                <a:latin typeface="Calibri"/>
              </a:rPr>
              <a:t>Every negative differs from its gold by exactly one localised edit; the other k−1 sentences are byte-identical. The error's type and size are the same at k = 2 and k = 5 — only its share of the block shrinks.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749040"/>
            <a:ext cx="5440680" cy="17830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DB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3749040"/>
            <a:ext cx="82296" cy="1783080"/>
          </a:xfrm>
          <a:prstGeom prst="rect">
            <a:avLst/>
          </a:prstGeom>
          <a:solidFill>
            <a:srgbClr val="C257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2" y="3913632"/>
            <a:ext cx="498348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2570C"/>
                </a:solidFill>
                <a:latin typeface="Calibri"/>
              </a:rPr>
              <a:t>SAME EDIT BUDGET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" y="4315968"/>
            <a:ext cx="4983480" cy="1143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0F1B2D"/>
                </a:solidFill>
                <a:latin typeface="Calibri"/>
              </a:rPr>
              <a:t>The same three categories and the same variants-per-position are applied at every k. What grows with k is the surrounding clean context, i.e. the dilution — nothing about the error itself.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3749040"/>
            <a:ext cx="5440680" cy="17830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DB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72200" y="3749040"/>
            <a:ext cx="82296" cy="1783080"/>
          </a:xfrm>
          <a:prstGeom prst="rect">
            <a:avLst/>
          </a:prstGeom>
          <a:solidFill>
            <a:srgbClr val="C257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28232" y="3913632"/>
            <a:ext cx="498348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2570C"/>
                </a:solidFill>
                <a:latin typeface="Calibri"/>
              </a:rPr>
              <a:t>PAIRWISE READOUT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28232" y="4315968"/>
            <a:ext cx="4983480" cy="1143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0F1B2D"/>
                </a:solidFill>
                <a:latin typeface="Calibri"/>
              </a:rPr>
              <a:t>The headline metric — detection rate — compares the gold block against each of its own single-error negatives one-to-one. Because it is pairwise, a larger pool cannot confound it: it isolates dilution.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81360" y="6455664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4A2B0"/>
                </a:solidFill>
                <a:latin typeface="Consolas"/>
              </a:rPr>
              <a:t>07 / 12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4A2B0"/>
                </a:solidFill>
                <a:latin typeface="Calibri"/>
              </a:rPr>
              <a:t>Encoder length-sensitivity · block-level xSIM++ on FLORES+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57200"/>
            <a:ext cx="82296" cy="292608"/>
          </a:xfrm>
          <a:prstGeom prst="rect">
            <a:avLst/>
          </a:prstGeom>
          <a:solidFill>
            <a:srgbClr val="C257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457200"/>
            <a:ext cx="10789920" cy="31089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A6B7B"/>
                </a:solidFill>
                <a:latin typeface="Calibri"/>
              </a:rPr>
              <a:t>EDGE CASES — TWO GUARDS THAT KEEP THE POOL CLEAN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2296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900" b="1" i="0">
                <a:solidFill>
                  <a:srgbClr val="0F1B2D"/>
                </a:solidFill>
                <a:latin typeface="Calibri"/>
              </a:rPr>
              <a:t>When an edit can't be made, and never a duplicate of the answer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83080"/>
            <a:ext cx="5440680" cy="356616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DB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783080"/>
            <a:ext cx="5440680" cy="73152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77240" y="2011680"/>
            <a:ext cx="3566160" cy="310896"/>
          </a:xfrm>
          <a:prstGeom prst="roundRect">
            <a:avLst>
              <a:gd name="adj" fmla="val 9000"/>
            </a:avLst>
          </a:prstGeom>
          <a:solidFill>
            <a:srgbClr val="DAEC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011680"/>
            <a:ext cx="3566160" cy="31089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0E7C86"/>
                </a:solidFill>
                <a:latin typeface="Calibri"/>
              </a:rPr>
              <a:t>GUARD 1 · edit not applicable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514600"/>
            <a:ext cx="5029200" cy="2743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0F1B2D"/>
                </a:solidFill>
                <a:latin typeface="Calibri"/>
              </a:rPr>
              <a:t>If a sentence has no number, no detectable entity, or no lexicon match, the perturbation function returns nothing.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500" b="0" i="0">
                <a:solidFill>
                  <a:srgbClr val="0F1B2D"/>
                </a:solidFill>
                <a:latin typeface="Calibri"/>
              </a:rPr>
              <a:t/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0F1B2D"/>
                </a:solidFill>
                <a:latin typeface="Calibri"/>
              </a:rPr>
              <a:t>That (position, category) simply produces no negative. The error is never forced onto a sentence that cannot host it.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500" b="0" i="0">
                <a:solidFill>
                  <a:srgbClr val="0F1B2D"/>
                </a:solidFill>
                <a:latin typeface="Calibri"/>
              </a:rPr>
              <a:t/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0F1B2D"/>
                </a:solidFill>
                <a:latin typeface="Calibri"/>
              </a:rPr>
              <a:t>So blocks do not all have the same negative count; per-category coverage is recorded in </a:t>
            </a:r>
            <a:r>
              <a:rPr sz="1250" b="0" i="0">
                <a:solidFill>
                  <a:srgbClr val="5A6B7B"/>
                </a:solidFill>
                <a:latin typeface="Consolas"/>
              </a:rPr>
              <a:t>variant_stats</a:t>
            </a:r>
            <a:r>
              <a:rPr sz="1300" b="0" i="0">
                <a:solidFill>
                  <a:srgbClr val="0F1B2D"/>
                </a:solidFill>
                <a:latin typeface="Calibri"/>
              </a:rPr>
              <a:t> so any gap is explicit.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783080"/>
            <a:ext cx="5440680" cy="356616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DB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72200" y="1783080"/>
            <a:ext cx="5440680" cy="73152"/>
          </a:xfrm>
          <a:prstGeom prst="rect">
            <a:avLst/>
          </a:prstGeom>
          <a:solidFill>
            <a:srgbClr val="1573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400800" y="2011680"/>
            <a:ext cx="4114800" cy="310896"/>
          </a:xfrm>
          <a:prstGeom prst="roundRect">
            <a:avLst>
              <a:gd name="adj" fmla="val 9000"/>
            </a:avLst>
          </a:prstGeom>
          <a:solidFill>
            <a:srgbClr val="DCEE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2011680"/>
            <a:ext cx="4114800" cy="31089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157347"/>
                </a:solidFill>
                <a:latin typeface="Calibri"/>
              </a:rPr>
              <a:t>GUARD 2 · never the gold in disguise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2514600"/>
            <a:ext cx="5029200" cy="2743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0F1B2D"/>
                </a:solidFill>
                <a:latin typeface="Calibri"/>
              </a:rPr>
              <a:t>A candidate is kept only if the edited sentence actually differs from the original </a:t>
            </a:r>
            <a:r>
              <a:rPr sz="1250" b="0" i="0">
                <a:solidFill>
                  <a:srgbClr val="5A6B7B"/>
                </a:solidFill>
                <a:latin typeface="Consolas"/>
              </a:rPr>
              <a:t>(cand ≠ source)</a:t>
            </a:r>
            <a:r>
              <a:rPr sz="1300" b="0" i="0">
                <a:solidFill>
                  <a:srgbClr val="0F1B2D"/>
                </a:solidFill>
                <a:latin typeface="Calibri"/>
              </a:rPr>
              <a:t>, and duplicates are removed.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500" b="0" i="0">
                <a:solidFill>
                  <a:srgbClr val="0F1B2D"/>
                </a:solidFill>
                <a:latin typeface="Calibri"/>
              </a:rPr>
              <a:t/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57347"/>
                </a:solidFill>
                <a:latin typeface="Calibri"/>
              </a:rPr>
              <a:t>A no-op edit therefore never enters the pool. The unperturbed block is never added as a negative — it would be identical to the gold and corrupt the labels.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500" b="0" i="0">
                <a:solidFill>
                  <a:srgbClr val="0F1B2D"/>
                </a:solidFill>
                <a:latin typeface="Calibri"/>
              </a:rPr>
              <a:t/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0F1B2D"/>
                </a:solidFill>
                <a:latin typeface="Calibri"/>
              </a:rPr>
              <a:t>Generation over-samples (up to 6× draws) to reach the target variant count while discarding no-ops and repeats.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5532120"/>
            <a:ext cx="11064240" cy="658368"/>
          </a:xfrm>
          <a:prstGeom prst="roundRect">
            <a:avLst>
              <a:gd name="adj" fmla="val 9000"/>
            </a:avLst>
          </a:prstGeom>
          <a:solidFill>
            <a:srgbClr val="F4F7FA"/>
          </a:solidFill>
          <a:ln w="12700">
            <a:solidFill>
              <a:srgbClr val="DB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5632704"/>
            <a:ext cx="10698480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C2570C"/>
                </a:solidFill>
                <a:latin typeface="Calibri"/>
              </a:rPr>
              <a:t>Net effect: </a:t>
            </a:r>
            <a:r>
              <a:rPr sz="1250" b="0" i="0">
                <a:solidFill>
                  <a:srgbClr val="0F1B2D"/>
                </a:solidFill>
                <a:latin typeface="Calibri"/>
              </a:rPr>
              <a:t>every negative in the pool is a genuine, single-sentence corruption of its own block — no forced edits, no accidental copies of the correct answer.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881360" y="6455664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4A2B0"/>
                </a:solidFill>
                <a:latin typeface="Consolas"/>
              </a:rPr>
              <a:t>08 / 12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4A2B0"/>
                </a:solidFill>
                <a:latin typeface="Calibri"/>
              </a:rPr>
              <a:t>Encoder length-sensitivity · block-level xSIM++ on FLORES+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57200"/>
            <a:ext cx="82296" cy="292608"/>
          </a:xfrm>
          <a:prstGeom prst="rect">
            <a:avLst/>
          </a:prstGeom>
          <a:solidFill>
            <a:srgbClr val="C257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457200"/>
            <a:ext cx="10789920" cy="31089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A6B7B"/>
                </a:solidFill>
                <a:latin typeface="Calibri"/>
              </a:rPr>
              <a:t>STEP 3 · SCORING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2296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900" b="1" i="0">
                <a:solidFill>
                  <a:srgbClr val="0F1B2D"/>
                </a:solidFill>
                <a:latin typeface="Calibri"/>
              </a:rPr>
              <a:t>Retrieval rule and the metrics we read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91640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0F1B2D"/>
                </a:solidFill>
                <a:latin typeface="Calibri"/>
              </a:rPr>
              <a:t>Embed the query block and every candidate; retrieval picks the candidate of </a:t>
            </a:r>
            <a:r>
              <a:rPr sz="1450" b="1" i="0">
                <a:solidFill>
                  <a:srgbClr val="0F1B2D"/>
                </a:solidFill>
                <a:latin typeface="Calibri"/>
              </a:rPr>
              <a:t>maximum cosine similarity</a:t>
            </a:r>
            <a:r>
              <a:rPr sz="1450" b="0" i="0">
                <a:solidFill>
                  <a:srgbClr val="0F1B2D"/>
                </a:solidFill>
                <a:latin typeface="Calibri"/>
              </a:rPr>
              <a:t> (absolute-margin rule). A block is scored correct only if that nearest candidate is its own clean gold block.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743200"/>
            <a:ext cx="5394960" cy="896112"/>
          </a:xfrm>
          <a:prstGeom prst="roundRect">
            <a:avLst>
              <a:gd name="adj" fmla="val 9000"/>
            </a:avLst>
          </a:prstGeom>
          <a:solidFill>
            <a:srgbClr val="F4F7FA"/>
          </a:solidFill>
          <a:ln w="12700">
            <a:solidFill>
              <a:srgbClr val="DB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862072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C2570C"/>
                </a:solidFill>
                <a:latin typeface="Calibri"/>
              </a:rPr>
              <a:t>xsim error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246120"/>
            <a:ext cx="502920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A6B7B"/>
                </a:solidFill>
                <a:latin typeface="Consolas"/>
              </a:rPr>
              <a:t>clean-blocks-only pool — pure alignment (should be ≈ 0)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26480" y="2743200"/>
            <a:ext cx="5394960" cy="896112"/>
          </a:xfrm>
          <a:prstGeom prst="roundRect">
            <a:avLst>
              <a:gd name="adj" fmla="val 9000"/>
            </a:avLst>
          </a:prstGeom>
          <a:solidFill>
            <a:srgbClr val="F4F7FA"/>
          </a:solidFill>
          <a:ln w="12700">
            <a:solidFill>
              <a:srgbClr val="DB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2862072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C2570C"/>
                </a:solidFill>
                <a:latin typeface="Calibri"/>
              </a:rPr>
              <a:t>xsim++ error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3246120"/>
            <a:ext cx="502920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A6B7B"/>
                </a:solidFill>
                <a:latin typeface="Consolas"/>
              </a:rPr>
              <a:t>full pool incl. hard negatives — the aggregate task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767328"/>
            <a:ext cx="5394960" cy="896112"/>
          </a:xfrm>
          <a:prstGeom prst="roundRect">
            <a:avLst>
              <a:gd name="adj" fmla="val 9000"/>
            </a:avLst>
          </a:prstGeom>
          <a:solidFill>
            <a:srgbClr val="F6E2D2"/>
          </a:solidFill>
          <a:ln w="12700">
            <a:solidFill>
              <a:srgbClr val="DB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3886200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C2570C"/>
                </a:solidFill>
                <a:latin typeface="Calibri"/>
              </a:rPr>
              <a:t>detection rate ★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270248"/>
            <a:ext cx="502920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A6B7B"/>
                </a:solidFill>
                <a:latin typeface="Consolas"/>
              </a:rPr>
              <a:t>P[ cos(q, clean) &gt; cos(q, perturbed) ] — length-controlled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26480" y="3767328"/>
            <a:ext cx="5394960" cy="896112"/>
          </a:xfrm>
          <a:prstGeom prst="roundRect">
            <a:avLst>
              <a:gd name="adj" fmla="val 9000"/>
            </a:avLst>
          </a:prstGeom>
          <a:solidFill>
            <a:srgbClr val="F4F7FA"/>
          </a:solidFill>
          <a:ln w="12700">
            <a:solidFill>
              <a:srgbClr val="DB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55080" y="3886200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C2570C"/>
                </a:solidFill>
                <a:latin typeface="Calibri"/>
              </a:rPr>
              <a:t>by position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55080" y="4270248"/>
            <a:ext cx="502920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A6B7B"/>
                </a:solidFill>
                <a:latin typeface="Consolas"/>
              </a:rPr>
              <a:t>detection vs where in the block the error sits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4791456"/>
            <a:ext cx="5394960" cy="896112"/>
          </a:xfrm>
          <a:prstGeom prst="roundRect">
            <a:avLst>
              <a:gd name="adj" fmla="val 9000"/>
            </a:avLst>
          </a:prstGeom>
          <a:solidFill>
            <a:srgbClr val="F4F7FA"/>
          </a:solidFill>
          <a:ln w="12700">
            <a:solidFill>
              <a:srgbClr val="DB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4910328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C2570C"/>
                </a:solidFill>
                <a:latin typeface="Calibri"/>
              </a:rPr>
              <a:t>by category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5294376"/>
            <a:ext cx="502920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A6B7B"/>
                </a:solidFill>
                <a:latin typeface="Consolas"/>
              </a:rPr>
              <a:t>which edit type the encoder is blind to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26480" y="4791456"/>
            <a:ext cx="5394960" cy="896112"/>
          </a:xfrm>
          <a:prstGeom prst="roundRect">
            <a:avLst>
              <a:gd name="adj" fmla="val 9000"/>
            </a:avLst>
          </a:prstGeom>
          <a:solidFill>
            <a:srgbClr val="F4F7FA"/>
          </a:solidFill>
          <a:ln w="12700">
            <a:solidFill>
              <a:srgbClr val="DB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55080" y="4910328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C2570C"/>
                </a:solidFill>
                <a:latin typeface="Calibri"/>
              </a:rPr>
              <a:t>margin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5080" y="5294376"/>
            <a:ext cx="502920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A6B7B"/>
                </a:solidFill>
                <a:latin typeface="Consolas"/>
              </a:rPr>
              <a:t>gold − best-negative cosine (how decisive)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594360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1">
                <a:solidFill>
                  <a:srgbClr val="5A6B7B"/>
                </a:solidFill>
                <a:latin typeface="Calibri"/>
              </a:rPr>
              <a:t>★ detection rate is the strictly length-controlled number: a pairwise gold-vs-own-negative vote, immune to pool size. 0.50 = chance.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881360" y="6455664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4A2B0"/>
                </a:solidFill>
                <a:latin typeface="Consolas"/>
              </a:rPr>
              <a:t>09 / 12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4A2B0"/>
                </a:solidFill>
                <a:latin typeface="Calibri"/>
              </a:rPr>
              <a:t>Encoder length-sensitivity · block-level xSIM++ on FLORES+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57200"/>
            <a:ext cx="82296" cy="292608"/>
          </a:xfrm>
          <a:prstGeom prst="rect">
            <a:avLst/>
          </a:prstGeom>
          <a:solidFill>
            <a:srgbClr val="C257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457200"/>
            <a:ext cx="10789920" cy="31089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A6B7B"/>
                </a:solidFill>
                <a:latin typeface="Calibri"/>
              </a:rPr>
              <a:t>RESULT · MEAN OVER DE · ES · FR · RU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2296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0F1B2D"/>
                </a:solidFill>
                <a:latin typeface="Calibri"/>
              </a:rPr>
              <a:t>COMET aligns blocks perfectly — yet can't feel a buried error</a:t>
            </a:r>
          </a:p>
        </p:txBody>
      </p:sp>
      <p:pic>
        <p:nvPicPr>
          <p:cNvPr id="6" name="Picture 5" descr="xsim_vs_xsimp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54480"/>
            <a:ext cx="5623560" cy="3514725"/>
          </a:xfrm>
          <a:prstGeom prst="rect">
            <a:avLst/>
          </a:prstGeom>
        </p:spPr>
      </p:pic>
      <p:pic>
        <p:nvPicPr>
          <p:cNvPr id="7" name="Picture 6" descr="detection_vs_lengt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1554480"/>
            <a:ext cx="5623560" cy="351472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5029200"/>
            <a:ext cx="5623560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A6B7B"/>
                </a:solidFill>
                <a:latin typeface="Calibri"/>
              </a:rPr>
              <a:t>Dashed xsim (clean pool) ≈ 0 for COMET/LaBSE/E5. Solid xsim++ (with hard negatives): COMET climbs 0.72 → 0.98 as k grows.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72200" y="5029200"/>
            <a:ext cx="5577840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A6B7B"/>
                </a:solidFill>
                <a:latin typeface="Calibri"/>
              </a:rPr>
              <a:t>Detection = P[clean closer than perturbed]. COMET &amp; Bio-COMET fall below chance from k = 3; aligners hold ~0.85 at k = 5.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5669280"/>
            <a:ext cx="11064240" cy="685800"/>
          </a:xfrm>
          <a:prstGeom prst="roundRect">
            <a:avLst>
              <a:gd name="adj" fmla="val 9000"/>
            </a:avLst>
          </a:prstGeom>
          <a:solidFill>
            <a:srgbClr val="F6E2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5669280"/>
            <a:ext cx="82296" cy="685800"/>
          </a:xfrm>
          <a:prstGeom prst="rect">
            <a:avLst/>
          </a:prstGeom>
          <a:solidFill>
            <a:srgbClr val="C257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5742432"/>
            <a:ext cx="1069848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C2570C"/>
                </a:solidFill>
                <a:latin typeface="Calibri"/>
              </a:rPr>
              <a:t>Finding: </a:t>
            </a:r>
            <a:r>
              <a:rPr sz="1250" b="0" i="0">
                <a:solidFill>
                  <a:srgbClr val="0F1B2D"/>
                </a:solidFill>
                <a:latin typeface="Calibri"/>
              </a:rPr>
              <a:t>COMET's encoder aligns the block flawlessly but is fooled by one perturbed sentence 72 % of the time at k = 2 and 98 % at k = 5 — from k = 3 it ranks the corrupted block closer than the clean one. The pure aligners resist.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55664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4A2B0"/>
                </a:solidFill>
                <a:latin typeface="Consolas"/>
              </a:rPr>
              <a:t>10 / 12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4A2B0"/>
                </a:solidFill>
                <a:latin typeface="Calibri"/>
              </a:rPr>
              <a:t>Encoder length-sensitivity · block-level xSIM++ on FLORES+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57200"/>
            <a:ext cx="82296" cy="292608"/>
          </a:xfrm>
          <a:prstGeom prst="rect">
            <a:avLst/>
          </a:prstGeom>
          <a:solidFill>
            <a:srgbClr val="C257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457200"/>
            <a:ext cx="10789920" cy="31089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A6B7B"/>
                </a:solidFill>
                <a:latin typeface="Calibri"/>
              </a:rPr>
              <a:t>RESULT · THE NUMBERS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2296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900" b="1" i="0">
                <a:solidFill>
                  <a:srgbClr val="0F1B2D"/>
                </a:solidFill>
                <a:latin typeface="Calibri"/>
              </a:rPr>
              <a:t>xsim++ error and detection rate vs block length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34640" y="1783080"/>
            <a:ext cx="4242816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C2570C"/>
                </a:solidFill>
                <a:latin typeface="Calibri"/>
              </a:rPr>
              <a:t>xsim++ error   (↑ = worse)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77456" y="1783080"/>
            <a:ext cx="4242816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0E7C86"/>
                </a:solidFill>
                <a:latin typeface="Calibri"/>
              </a:rPr>
              <a:t>detection rate   (↓ = worse; .50 = chance)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12264"/>
            <a:ext cx="2286000" cy="3657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A6B7B"/>
                </a:solidFill>
                <a:latin typeface="Calibri"/>
              </a:rPr>
              <a:t>encoder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34640" y="2112264"/>
            <a:ext cx="1060704" cy="3657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A6B7B"/>
                </a:solidFill>
                <a:latin typeface="Calibri"/>
              </a:rPr>
              <a:t>k=2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95344" y="2112264"/>
            <a:ext cx="1060704" cy="3657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A6B7B"/>
                </a:solidFill>
                <a:latin typeface="Calibri"/>
              </a:rPr>
              <a:t>k=3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56048" y="2112264"/>
            <a:ext cx="1060704" cy="3657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A6B7B"/>
                </a:solidFill>
                <a:latin typeface="Calibri"/>
              </a:rPr>
              <a:t>k=4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16752" y="2112264"/>
            <a:ext cx="1060704" cy="3657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A6B7B"/>
                </a:solidFill>
                <a:latin typeface="Calibri"/>
              </a:rPr>
              <a:t>k=5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77456" y="2112264"/>
            <a:ext cx="1060704" cy="3657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A6B7B"/>
                </a:solidFill>
                <a:latin typeface="Calibri"/>
              </a:rPr>
              <a:t>k=2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38160" y="2112264"/>
            <a:ext cx="1060704" cy="3657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A6B7B"/>
                </a:solidFill>
                <a:latin typeface="Calibri"/>
              </a:rPr>
              <a:t>k=3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98864" y="2112264"/>
            <a:ext cx="1060704" cy="3657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A6B7B"/>
                </a:solidFill>
                <a:latin typeface="Calibri"/>
              </a:rPr>
              <a:t>k=4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59568" y="2112264"/>
            <a:ext cx="1060704" cy="3657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A6B7B"/>
                </a:solidFill>
                <a:latin typeface="Calibri"/>
              </a:rPr>
              <a:t>k=5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2496312"/>
            <a:ext cx="10771632" cy="18288"/>
          </a:xfrm>
          <a:prstGeom prst="rect">
            <a:avLst/>
          </a:prstGeom>
          <a:solidFill>
            <a:srgbClr val="DB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48640" y="2569464"/>
            <a:ext cx="10771632" cy="548640"/>
          </a:xfrm>
          <a:prstGeom prst="roundRect">
            <a:avLst>
              <a:gd name="adj" fmla="val 9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2569464"/>
            <a:ext cx="2286000" cy="5486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2570C"/>
                </a:solidFill>
                <a:latin typeface="Calibri"/>
              </a:rPr>
              <a:t>COMET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34640" y="2569464"/>
            <a:ext cx="1060704" cy="5486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0F1B2D"/>
                </a:solidFill>
                <a:latin typeface="Consolas"/>
              </a:rPr>
              <a:t>0.72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95344" y="2569464"/>
            <a:ext cx="1060704" cy="5486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0F1B2D"/>
                </a:solidFill>
                <a:latin typeface="Consolas"/>
              </a:rPr>
              <a:t>0.87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56048" y="2569464"/>
            <a:ext cx="1060704" cy="5486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0F1B2D"/>
                </a:solidFill>
                <a:latin typeface="Consolas"/>
              </a:rPr>
              <a:t>0.94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16752" y="2569464"/>
            <a:ext cx="1060704" cy="5486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0F1B2D"/>
                </a:solidFill>
                <a:latin typeface="Consolas"/>
              </a:rPr>
              <a:t>0.98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77456" y="2569464"/>
            <a:ext cx="1060704" cy="5486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0F1B2D"/>
                </a:solidFill>
                <a:latin typeface="Consolas"/>
              </a:rPr>
              <a:t>0.59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38160" y="2569464"/>
            <a:ext cx="1060704" cy="5486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C2570C"/>
                </a:solidFill>
                <a:latin typeface="Consolas"/>
              </a:rPr>
              <a:t>0.47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98864" y="2569464"/>
            <a:ext cx="1060704" cy="5486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C2570C"/>
                </a:solidFill>
                <a:latin typeface="Consolas"/>
              </a:rPr>
              <a:t>0.40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259568" y="2569464"/>
            <a:ext cx="1060704" cy="5486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C2570C"/>
                </a:solidFill>
                <a:latin typeface="Consolas"/>
              </a:rPr>
              <a:t>0.34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3154680"/>
            <a:ext cx="2286000" cy="5486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2570C"/>
                </a:solidFill>
                <a:latin typeface="Calibri"/>
              </a:rPr>
              <a:t>Bio-COMET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834640" y="3154680"/>
            <a:ext cx="1060704" cy="5486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0F1B2D"/>
                </a:solidFill>
                <a:latin typeface="Consolas"/>
              </a:rPr>
              <a:t>0.72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95344" y="3154680"/>
            <a:ext cx="1060704" cy="5486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0F1B2D"/>
                </a:solidFill>
                <a:latin typeface="Consolas"/>
              </a:rPr>
              <a:t>0.87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956048" y="3154680"/>
            <a:ext cx="1060704" cy="5486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0F1B2D"/>
                </a:solidFill>
                <a:latin typeface="Consolas"/>
              </a:rPr>
              <a:t>0.94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16752" y="3154680"/>
            <a:ext cx="1060704" cy="5486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0F1B2D"/>
                </a:solidFill>
                <a:latin typeface="Consolas"/>
              </a:rPr>
              <a:t>0.98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77456" y="3154680"/>
            <a:ext cx="1060704" cy="5486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0F1B2D"/>
                </a:solidFill>
                <a:latin typeface="Consolas"/>
              </a:rPr>
              <a:t>0.58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38160" y="3154680"/>
            <a:ext cx="1060704" cy="5486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C2570C"/>
                </a:solidFill>
                <a:latin typeface="Consolas"/>
              </a:rPr>
              <a:t>0.46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98864" y="3154680"/>
            <a:ext cx="1060704" cy="5486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C2570C"/>
                </a:solidFill>
                <a:latin typeface="Consolas"/>
              </a:rPr>
              <a:t>0.39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259568" y="3154680"/>
            <a:ext cx="1060704" cy="5486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C2570C"/>
                </a:solidFill>
                <a:latin typeface="Consolas"/>
              </a:rPr>
              <a:t>0.34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48640" y="3739896"/>
            <a:ext cx="10771632" cy="548640"/>
          </a:xfrm>
          <a:prstGeom prst="roundRect">
            <a:avLst>
              <a:gd name="adj" fmla="val 9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0080" y="3739896"/>
            <a:ext cx="2286000" cy="5486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0E7C86"/>
                </a:solidFill>
                <a:latin typeface="Calibri"/>
              </a:rPr>
              <a:t>LaBSE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834640" y="3739896"/>
            <a:ext cx="1060704" cy="5486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0F1B2D"/>
                </a:solidFill>
                <a:latin typeface="Consolas"/>
              </a:rPr>
              <a:t>0.27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895344" y="3739896"/>
            <a:ext cx="1060704" cy="5486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0F1B2D"/>
                </a:solidFill>
                <a:latin typeface="Consolas"/>
              </a:rPr>
              <a:t>0.48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956048" y="3739896"/>
            <a:ext cx="1060704" cy="5486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0F1B2D"/>
                </a:solidFill>
                <a:latin typeface="Consolas"/>
              </a:rPr>
              <a:t>0.63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016752" y="3739896"/>
            <a:ext cx="1060704" cy="5486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0F1B2D"/>
                </a:solidFill>
                <a:latin typeface="Consolas"/>
              </a:rPr>
              <a:t>0.76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077456" y="3739896"/>
            <a:ext cx="1060704" cy="5486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0F1B2D"/>
                </a:solidFill>
                <a:latin typeface="Consolas"/>
              </a:rPr>
              <a:t>0.93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38160" y="3739896"/>
            <a:ext cx="1060704" cy="5486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0F1B2D"/>
                </a:solidFill>
                <a:latin typeface="Consolas"/>
              </a:rPr>
              <a:t>0.89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98864" y="3739896"/>
            <a:ext cx="1060704" cy="5486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0F1B2D"/>
                </a:solidFill>
                <a:latin typeface="Consolas"/>
              </a:rPr>
              <a:t>0.87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259568" y="3739896"/>
            <a:ext cx="1060704" cy="5486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0F1B2D"/>
                </a:solidFill>
                <a:latin typeface="Consolas"/>
              </a:rPr>
              <a:t>0.83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0080" y="4325112"/>
            <a:ext cx="2286000" cy="5486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0E7C86"/>
                </a:solidFill>
                <a:latin typeface="Calibri"/>
              </a:rPr>
              <a:t>E5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834640" y="4325112"/>
            <a:ext cx="1060704" cy="5486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0F1B2D"/>
                </a:solidFill>
                <a:latin typeface="Consolas"/>
              </a:rPr>
              <a:t>0.24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895344" y="4325112"/>
            <a:ext cx="1060704" cy="5486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0F1B2D"/>
                </a:solidFill>
                <a:latin typeface="Consolas"/>
              </a:rPr>
              <a:t>0.44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956048" y="4325112"/>
            <a:ext cx="1060704" cy="5486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0F1B2D"/>
                </a:solidFill>
                <a:latin typeface="Consolas"/>
              </a:rPr>
              <a:t>0.60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016752" y="4325112"/>
            <a:ext cx="1060704" cy="5486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0F1B2D"/>
                </a:solidFill>
                <a:latin typeface="Consolas"/>
              </a:rPr>
              <a:t>0.73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077456" y="4325112"/>
            <a:ext cx="1060704" cy="5486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0F1B2D"/>
                </a:solidFill>
                <a:latin typeface="Consolas"/>
              </a:rPr>
              <a:t>0.94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138160" y="4325112"/>
            <a:ext cx="1060704" cy="5486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0F1B2D"/>
                </a:solidFill>
                <a:latin typeface="Consolas"/>
              </a:rPr>
              <a:t>0.91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198864" y="4325112"/>
            <a:ext cx="1060704" cy="5486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0F1B2D"/>
                </a:solidFill>
                <a:latin typeface="Consolas"/>
              </a:rPr>
              <a:t>0.89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259568" y="4325112"/>
            <a:ext cx="1060704" cy="5486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0F1B2D"/>
                </a:solidFill>
                <a:latin typeface="Consolas"/>
              </a:rPr>
              <a:t>0.85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548640" y="4910328"/>
            <a:ext cx="10771632" cy="548640"/>
          </a:xfrm>
          <a:prstGeom prst="roundRect">
            <a:avLst>
              <a:gd name="adj" fmla="val 9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40080" y="4910328"/>
            <a:ext cx="2286000" cy="5486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64748B"/>
                </a:solidFill>
                <a:latin typeface="Calibri"/>
              </a:rPr>
              <a:t>XLM-R (raw)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834640" y="4910328"/>
            <a:ext cx="1060704" cy="5486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0F1B2D"/>
                </a:solidFill>
                <a:latin typeface="Consolas"/>
              </a:rPr>
              <a:t>0.87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895344" y="4910328"/>
            <a:ext cx="1060704" cy="5486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0F1B2D"/>
                </a:solidFill>
                <a:latin typeface="Consolas"/>
              </a:rPr>
              <a:t>0.93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956048" y="4910328"/>
            <a:ext cx="1060704" cy="5486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0F1B2D"/>
                </a:solidFill>
                <a:latin typeface="Consolas"/>
              </a:rPr>
              <a:t>0.97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016752" y="4910328"/>
            <a:ext cx="1060704" cy="5486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0F1B2D"/>
                </a:solidFill>
                <a:latin typeface="Consolas"/>
              </a:rPr>
              <a:t>0.98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077456" y="4910328"/>
            <a:ext cx="1060704" cy="5486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0F1B2D"/>
                </a:solidFill>
                <a:latin typeface="Consolas"/>
              </a:rPr>
              <a:t>0.51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138160" y="4910328"/>
            <a:ext cx="1060704" cy="5486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C2570C"/>
                </a:solidFill>
                <a:latin typeface="Consolas"/>
              </a:rPr>
              <a:t>0.48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198864" y="4910328"/>
            <a:ext cx="1060704" cy="5486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C2570C"/>
                </a:solidFill>
                <a:latin typeface="Consolas"/>
              </a:rPr>
              <a:t>0.46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259568" y="4910328"/>
            <a:ext cx="1060704" cy="5486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C2570C"/>
                </a:solidFill>
                <a:latin typeface="Consolas"/>
              </a:rPr>
              <a:t>0.44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48640" y="5806440"/>
            <a:ext cx="11064240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1">
                <a:solidFill>
                  <a:srgbClr val="5A6B7B"/>
                </a:solidFill>
                <a:latin typeface="Calibri"/>
              </a:rPr>
              <a:t>Bold rust = detection below .50: the encoder ranks the corrupted block closer than the clean one, on average. COMET and Bio-COMET cross that line at k = 3; LaBSE and E5 never do.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881360" y="6455664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4A2B0"/>
                </a:solidFill>
                <a:latin typeface="Consolas"/>
              </a:rPr>
              <a:t>11 / 12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48640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4A2B0"/>
                </a:solidFill>
                <a:latin typeface="Calibri"/>
              </a:rPr>
              <a:t>Encoder length-sensitivity · block-level xSIM++ on FLORES+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57200"/>
            <a:ext cx="82296" cy="292608"/>
          </a:xfrm>
          <a:prstGeom prst="rect">
            <a:avLst/>
          </a:prstGeom>
          <a:solidFill>
            <a:srgbClr val="C257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457200"/>
            <a:ext cx="10789920" cy="31089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A6B7B"/>
                </a:solidFill>
                <a:latin typeface="Calibri"/>
              </a:rPr>
              <a:t>RECAP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2296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900" b="1" i="0">
                <a:solidFill>
                  <a:srgbClr val="0F1B2D"/>
                </a:solidFill>
                <a:latin typeface="Calibri"/>
              </a:rPr>
              <a:t>One planted error, four lengths, one conclusion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37360"/>
            <a:ext cx="11064240" cy="288036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DB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965960"/>
            <a:ext cx="228600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C2570C"/>
                </a:solidFill>
                <a:latin typeface="Calibri"/>
              </a:rPr>
              <a:t>concatenate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965960"/>
            <a:ext cx="822960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0F1B2D"/>
                </a:solidFill>
                <a:latin typeface="Calibri"/>
              </a:rPr>
              <a:t>non-overlapping k-sentence windows, same window in every language → parallel source &amp; target blocks (k = 2…5).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500884"/>
            <a:ext cx="228600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C2570C"/>
                </a:solidFill>
                <a:latin typeface="Calibri"/>
              </a:rPr>
              <a:t>corrupt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0" y="2500884"/>
            <a:ext cx="822960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0F1B2D"/>
                </a:solidFill>
                <a:latin typeface="Calibri"/>
              </a:rPr>
              <a:t>one sentence per candidate, edited by one of three minimal semantic edits — causality, entity, number; the other k−1 untouched.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035808"/>
            <a:ext cx="228600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C2570C"/>
                </a:solidFill>
                <a:latin typeface="Calibri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3035808"/>
            <a:ext cx="822960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0F1B2D"/>
                </a:solidFill>
                <a:latin typeface="Calibri"/>
              </a:rPr>
              <a:t>the edit is fixed across k; only the surrounding context grows. Detection rate is a pairwise, pool-size-immune readout of dilution.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570732"/>
            <a:ext cx="228600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C2570C"/>
                </a:solidFill>
                <a:latin typeface="Calibri"/>
              </a:rPr>
              <a:t>safeguards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3570732"/>
            <a:ext cx="822960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0F1B2D"/>
                </a:solidFill>
                <a:latin typeface="Calibri"/>
              </a:rPr>
              <a:t>no edit is forced on a sentence that can't host it; a no-op is never added — the gold is never duplicated as a negative.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4105656"/>
            <a:ext cx="228600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C2570C"/>
                </a:solidFill>
                <a:latin typeface="Calibri"/>
              </a:rPr>
              <a:t>result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4105656"/>
            <a:ext cx="822960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0F1B2D"/>
                </a:solidFill>
                <a:latin typeface="Calibri"/>
              </a:rPr>
              <a:t>COMET aligns blocks perfectly (xsim ≈ 0) but its error sensitivity dilutes fast: below chance from k = 3, 0.98 xsim++ at k = 5. Pure aligners resist.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4892040"/>
            <a:ext cx="11064240" cy="1005840"/>
          </a:xfrm>
          <a:prstGeom prst="roundRect">
            <a:avLst>
              <a:gd name="adj" fmla="val 9000"/>
            </a:avLst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5029200"/>
            <a:ext cx="10515600" cy="7772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Encoders can match a long block to its translation while staying blind to a single error inside it — and the blindness grows with length.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60" y="6455664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4A2B0"/>
                </a:solidFill>
                <a:latin typeface="Consolas"/>
              </a:rPr>
              <a:t>12 / 12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4A2B0"/>
                </a:solidFill>
                <a:latin typeface="Calibri"/>
              </a:rPr>
              <a:t>Encoder length-sensitivity · block-level xSIM++ on FLORES+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